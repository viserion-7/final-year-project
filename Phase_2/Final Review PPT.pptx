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60" r:id="rId2"/>
  </p:sldMasterIdLst>
  <p:notesMasterIdLst>
    <p:notesMasterId r:id="rId34"/>
  </p:notesMasterIdLst>
  <p:sldIdLst>
    <p:sldId id="261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53" r:id="rId11"/>
    <p:sldId id="335" r:id="rId12"/>
    <p:sldId id="354" r:id="rId13"/>
    <p:sldId id="336" r:id="rId14"/>
    <p:sldId id="338" r:id="rId15"/>
    <p:sldId id="350" r:id="rId16"/>
    <p:sldId id="359" r:id="rId17"/>
    <p:sldId id="349" r:id="rId18"/>
    <p:sldId id="344" r:id="rId19"/>
    <p:sldId id="355" r:id="rId20"/>
    <p:sldId id="356" r:id="rId21"/>
    <p:sldId id="347" r:id="rId22"/>
    <p:sldId id="357" r:id="rId23"/>
    <p:sldId id="358" r:id="rId24"/>
    <p:sldId id="360" r:id="rId25"/>
    <p:sldId id="348" r:id="rId26"/>
    <p:sldId id="361" r:id="rId27"/>
    <p:sldId id="339" r:id="rId28"/>
    <p:sldId id="341" r:id="rId29"/>
    <p:sldId id="342" r:id="rId30"/>
    <p:sldId id="343" r:id="rId31"/>
    <p:sldId id="351" r:id="rId32"/>
    <p:sldId id="35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D33B5-7E24-3B24-C036-E2632C868834}" v="46" dt="2026-05-25T06:05:38.389"/>
    <p1510:client id="{3DEF35FF-2873-F83B-0E88-6DE8D1DCC8B0}" v="7" dt="2026-05-25T08:43:21.143"/>
    <p1510:client id="{6E3AE466-64FC-2A36-4B8F-A3DFB040EDD1}" v="10" dt="2026-05-25T08:42:33.973"/>
    <p1510:client id="{83D6C7E9-F0F5-45AE-A153-F3427322D1D8}" v="563" dt="2026-05-25T08:16:50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B3B-E091-4218-B734-7F09C964D9E9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D287-CFE8-45F7-B578-1940EAB6B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1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20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6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8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6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5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9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54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17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3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3456"/>
            <a:ext cx="12218977" cy="52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4B71D63-CC8F-7D5C-C54F-0439C001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3E60720-4643-2A6C-4283-9BD3505F1DFE}"/>
              </a:ext>
            </a:extLst>
          </p:cNvPr>
          <p:cNvSpPr txBox="1">
            <a:spLocks/>
          </p:cNvSpPr>
          <p:nvPr userDrawn="1"/>
        </p:nvSpPr>
        <p:spPr>
          <a:xfrm>
            <a:off x="401263" y="6525813"/>
            <a:ext cx="1587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06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5204537" y="850128"/>
            <a:ext cx="6118050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4400" b="1">
                <a:solidFill>
                  <a:schemeClr val="bg1"/>
                </a:solidFill>
                <a:latin typeface="Segoe UI"/>
                <a:cs typeface="Segoe UI"/>
              </a:rPr>
              <a:t>A Neural Framework for Sandhi Splitting in</a:t>
            </a:r>
          </a:p>
          <a:p>
            <a:pPr algn="ctr" defTabSz="457200"/>
            <a:r>
              <a:rPr lang="en-US" sz="4400" b="1">
                <a:solidFill>
                  <a:schemeClr val="bg1"/>
                </a:solidFill>
                <a:latin typeface="Segoe UI"/>
                <a:cs typeface="Segoe UI"/>
              </a:rPr>
              <a:t>Low-Resource Sanskrit Texts</a:t>
            </a:r>
            <a:endParaRPr lang="en-US" sz="4000" b="1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2AFA7-A803-1602-35C8-C21ED8130634}"/>
              </a:ext>
            </a:extLst>
          </p:cNvPr>
          <p:cNvSpPr txBox="1"/>
          <p:nvPr/>
        </p:nvSpPr>
        <p:spPr>
          <a:xfrm>
            <a:off x="6617669" y="4954823"/>
            <a:ext cx="441551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Abhiram A S                  AM.EN.U4AIE22002</a:t>
            </a:r>
            <a:endParaRPr lang="en-IN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Karthik Narayan C        AM.EN.U4AIE22028</a:t>
            </a:r>
            <a:endParaRPr lang="en-IN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err="1">
                <a:solidFill>
                  <a:schemeClr val="bg1"/>
                </a:solidFill>
                <a:latin typeface="Times New Roman"/>
                <a:cs typeface="Times New Roman"/>
              </a:rPr>
              <a:t>Harigovind</a:t>
            </a: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 C B             AM.EN.U4AIE22119</a:t>
            </a:r>
            <a:endParaRPr lang="en-IN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1EF1F-2300-829E-6E9B-9FE25D611E45}"/>
              </a:ext>
            </a:extLst>
          </p:cNvPr>
          <p:cNvSpPr txBox="1"/>
          <p:nvPr/>
        </p:nvSpPr>
        <p:spPr>
          <a:xfrm>
            <a:off x="6268046" y="3870094"/>
            <a:ext cx="344317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IN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Jayashree Nair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B7946-4A61-F0D4-E3EF-98A28275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400"/>
              <a:t>Introduction</a:t>
            </a:r>
          </a:p>
          <a:p>
            <a:r>
              <a:rPr lang="en-IN" sz="2400"/>
              <a:t>Problem Definition</a:t>
            </a:r>
          </a:p>
          <a:p>
            <a:r>
              <a:rPr lang="en-IN" sz="2400"/>
              <a:t>Objectives</a:t>
            </a:r>
          </a:p>
          <a:p>
            <a:r>
              <a:rPr lang="en-IN" sz="2400"/>
              <a:t>Literature Review Summary(Table)</a:t>
            </a:r>
          </a:p>
          <a:p>
            <a:r>
              <a:rPr lang="en-IN" sz="2400"/>
              <a:t>Research Gap</a:t>
            </a:r>
          </a:p>
          <a:p>
            <a:r>
              <a:rPr lang="en-IN" sz="2400"/>
              <a:t>Dataset Description</a:t>
            </a:r>
          </a:p>
          <a:p>
            <a:r>
              <a:rPr lang="en-IN" sz="2400"/>
              <a:t>Methodology / Proposed Method</a:t>
            </a:r>
          </a:p>
          <a:p>
            <a:r>
              <a:rPr lang="en-IN" sz="2400"/>
              <a:t>Design/ Architecture</a:t>
            </a:r>
          </a:p>
          <a:p>
            <a:r>
              <a:rPr lang="en-IN" sz="2400"/>
              <a:t>Algorithms (if any)</a:t>
            </a:r>
          </a:p>
          <a:p>
            <a:r>
              <a:rPr lang="en-IN" sz="2400"/>
              <a:t>Evaluation Metrics</a:t>
            </a:r>
          </a:p>
          <a:p>
            <a:r>
              <a:rPr lang="en-IN" sz="2400"/>
              <a:t>Result Analysis</a:t>
            </a:r>
          </a:p>
          <a:p>
            <a:r>
              <a:rPr lang="en-IN" sz="2400"/>
              <a:t>Alignment with SDG Goals</a:t>
            </a:r>
          </a:p>
          <a:p>
            <a:r>
              <a:rPr lang="en-IN" sz="2400"/>
              <a:t>Limitations</a:t>
            </a:r>
          </a:p>
          <a:p>
            <a:r>
              <a:rPr lang="en-IN" sz="2400"/>
              <a:t>Future Works</a:t>
            </a:r>
          </a:p>
          <a:p>
            <a:r>
              <a:rPr lang="en-IN" sz="2400"/>
              <a:t>Publications</a:t>
            </a:r>
          </a:p>
          <a:p>
            <a:r>
              <a:rPr lang="en-IN" sz="2400">
                <a:latin typeface="Georgia"/>
              </a:rPr>
              <a:t>Reference(APA style)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F80A38-C040-884E-9416-3B2C3AC0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894FFD-4989-522F-352B-AB6F2C397014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  <a:latin typeface="Aptos"/>
                <a:cs typeface="Segoe UI"/>
              </a:rPr>
              <a:t>Project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0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5093-00F9-3254-1636-1072FAC8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3B1BEC-CC80-D014-E5F1-C355BBB04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>
                <a:latin typeface="Georgia"/>
              </a:rPr>
              <a:t>Sanskrit preserves India’s rich literary, philosophical, and medical heritage (Charaka Samhita, Sushruta Samhita).</a:t>
            </a:r>
            <a:endParaRPr lang="en-US">
              <a:latin typeface="Georgia"/>
            </a:endParaRPr>
          </a:p>
          <a:p>
            <a:r>
              <a:rPr lang="en-IN" sz="2400"/>
              <a:t>Sandhi = phonological merging of word boundaries </a:t>
            </a:r>
          </a:p>
          <a:p>
            <a:r>
              <a:rPr lang="en-IN" sz="2400"/>
              <a:t>Over 10,000+ Ayurvedic verses digitized → growing demand for automated NLP tools.</a:t>
            </a:r>
          </a:p>
          <a:p>
            <a:r>
              <a:rPr lang="en-IN" sz="2400"/>
              <a:t>Sandhi splitting = the inverse task: recovering original lexical units from compound words. Critical pre-processing step for parsing, machine translation, semantic analysis, and information retrieval.</a:t>
            </a:r>
            <a:endParaRPr lang="en-IN" sz="24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071B0-0DE7-BF83-8654-81E4D7F5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38EC5-DCC5-317A-8FD8-4682CF5A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CAF38-E53F-D058-B113-CEBA278FD827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30359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6C23-E2EB-2545-CD60-040B91CE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AB7B70-B847-BBA0-ED74-F0B0A65DC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/>
              <a:t>Existing Sandhi splitters fail on Ayurvedic Sanskrit:</a:t>
            </a:r>
          </a:p>
          <a:p>
            <a:r>
              <a:rPr lang="en-IN" sz="2400"/>
              <a:t>Ambiguity — multiple valid lexical decompositions per compound.</a:t>
            </a:r>
          </a:p>
          <a:p>
            <a:r>
              <a:rPr lang="en-IN" sz="2400">
                <a:latin typeface="Georgia"/>
              </a:rPr>
              <a:t>Long compounds (</a:t>
            </a:r>
            <a:r>
              <a:rPr lang="en-IN" sz="2400" err="1">
                <a:latin typeface="Georgia"/>
              </a:rPr>
              <a:t>samasa</a:t>
            </a:r>
            <a:r>
              <a:rPr lang="en-IN" sz="2400">
                <a:latin typeface="Georgia"/>
              </a:rPr>
              <a:t>) — accuracy collapses on 4+ morpheme boundaries.</a:t>
            </a:r>
          </a:p>
          <a:p>
            <a:r>
              <a:rPr lang="en-IN" sz="2400">
                <a:latin typeface="Georgia"/>
              </a:rPr>
              <a:t>No neural–linguistic synergy — rule-based and ML models treated as silos.</a:t>
            </a:r>
          </a:p>
          <a:p>
            <a:r>
              <a:rPr lang="en-IN" sz="2400"/>
              <a:t>OOV vocabulary — domain-specific Ayurvedic terms unseen by general models.</a:t>
            </a:r>
          </a:p>
          <a:p>
            <a:r>
              <a:rPr lang="en-IN" sz="2400"/>
              <a:t>Limited evaluation rigor — no structured error analysis, ablations, or failure taxonomy.</a:t>
            </a:r>
          </a:p>
          <a:p>
            <a:r>
              <a:rPr lang="en-IN" sz="2400"/>
              <a:t>Existing tools achieve &lt; 70% accuracy on Ayurvedic texts.</a:t>
            </a:r>
          </a:p>
          <a:p>
            <a:r>
              <a:rPr lang="en-IN" sz="2400"/>
              <a:t>Need: a unified, domain-aware, hybrid neural-linguistic framework.</a:t>
            </a:r>
            <a:endParaRPr lang="en-IN" sz="24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30F56B-1513-5663-45D7-305B65F0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Problem</a:t>
            </a:r>
            <a:r>
              <a:rPr lang="en-IN"/>
              <a:t> </a:t>
            </a:r>
            <a:r>
              <a:rPr lang="en-IN" b="1"/>
              <a:t>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D0D17-6895-43B7-72DF-5F22451B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5797F-F39F-E161-C53C-0589F900F376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26455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EC9D-5121-F2BB-8EE2-F05BC564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8C9F0B-D9F3-1DE2-7DE9-63941A3E8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/>
              <a:t>Primary Objectives</a:t>
            </a:r>
          </a:p>
          <a:p>
            <a:pPr lvl="1"/>
            <a:r>
              <a:rPr lang="en-IN" sz="2000"/>
              <a:t>O1 — Benchmark: Rule-based, BiLSTM, Seq2Seq+Attention,Transformers (mT5, ByT5, UMT5, </a:t>
            </a:r>
            <a:r>
              <a:rPr lang="en-IN" sz="2000" err="1"/>
              <a:t>IndicBART</a:t>
            </a:r>
            <a:r>
              <a:rPr lang="en-IN" sz="2000"/>
              <a:t>).</a:t>
            </a:r>
          </a:p>
          <a:p>
            <a:pPr lvl="1"/>
            <a:r>
              <a:rPr lang="en-IN" sz="2000"/>
              <a:t>O2 — Analyse: Structured error analysis &amp; domain-specific failure taxonomy.</a:t>
            </a:r>
          </a:p>
          <a:p>
            <a:pPr lvl="1"/>
            <a:r>
              <a:rPr lang="en-IN" sz="2000"/>
              <a:t>O3 — Design: Hybrid neural-linguistic pipeline with </a:t>
            </a:r>
            <a:r>
              <a:rPr lang="en-IN" sz="2000" err="1"/>
              <a:t>Paninian</a:t>
            </a:r>
            <a:r>
              <a:rPr lang="en-IN" sz="2000"/>
              <a:t> rule support and candidate ranking.</a:t>
            </a:r>
          </a:p>
          <a:p>
            <a:pPr lvl="1"/>
            <a:r>
              <a:rPr lang="en-IN" sz="2000"/>
              <a:t>O4 — Evaluate: Ablation experiments using Accuracy, F1, Exact Match, CER.</a:t>
            </a:r>
          </a:p>
          <a:p>
            <a:pPr marL="0" indent="0">
              <a:buNone/>
            </a:pPr>
            <a:r>
              <a:rPr lang="en-IN" sz="2400"/>
              <a:t>Secondary Objectives</a:t>
            </a:r>
          </a:p>
          <a:p>
            <a:pPr lvl="1"/>
            <a:r>
              <a:rPr lang="en-IN" sz="2000"/>
              <a:t>O5 — Optimise: Lightweight pipeline for standard research hardware.</a:t>
            </a:r>
          </a:p>
          <a:p>
            <a:pPr lvl="1"/>
            <a:r>
              <a:rPr lang="en-IN" sz="2000"/>
              <a:t>O6 — Domain Evaluation: </a:t>
            </a:r>
            <a:r>
              <a:rPr lang="en-IN" sz="2000" err="1"/>
              <a:t>UoH</a:t>
            </a:r>
            <a:r>
              <a:rPr lang="en-IN" sz="2000"/>
              <a:t> Charaka Samhita corpus benchmark</a:t>
            </a:r>
            <a:endParaRPr lang="en-IN" sz="20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7D948A-2AB9-A3ED-5459-B641524D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Objectives</a:t>
            </a: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19660-92FC-2425-84EF-3BFBE77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8AC0E-982E-BB8C-B616-4787A725C254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34020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001F-2A36-E77F-BD59-70A0D0CCE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3CC81F94-57FC-DD21-3CCC-4CE423AE8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037711"/>
              </p:ext>
            </p:extLst>
          </p:nvPr>
        </p:nvGraphicFramePr>
        <p:xfrm>
          <a:off x="571500" y="1136650"/>
          <a:ext cx="1120933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334">
                  <a:extLst>
                    <a:ext uri="{9D8B030D-6E8A-4147-A177-3AD203B41FA5}">
                      <a16:colId xmlns:a16="http://schemas.microsoft.com/office/drawing/2014/main" val="736547657"/>
                    </a:ext>
                  </a:extLst>
                </a:gridCol>
                <a:gridCol w="2802334">
                  <a:extLst>
                    <a:ext uri="{9D8B030D-6E8A-4147-A177-3AD203B41FA5}">
                      <a16:colId xmlns:a16="http://schemas.microsoft.com/office/drawing/2014/main" val="3427318495"/>
                    </a:ext>
                  </a:extLst>
                </a:gridCol>
                <a:gridCol w="2802334">
                  <a:extLst>
                    <a:ext uri="{9D8B030D-6E8A-4147-A177-3AD203B41FA5}">
                      <a16:colId xmlns:a16="http://schemas.microsoft.com/office/drawing/2014/main" val="2688036063"/>
                    </a:ext>
                  </a:extLst>
                </a:gridCol>
                <a:gridCol w="2802334">
                  <a:extLst>
                    <a:ext uri="{9D8B030D-6E8A-4147-A177-3AD203B41FA5}">
                      <a16:colId xmlns:a16="http://schemas.microsoft.com/office/drawing/2014/main" val="2723001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Authors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Method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Gap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2820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Aralikatte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Seq2(Seq) Pointer Net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Fails on long compounds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4116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Reddy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Seq2Seq + Attention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domain evaluation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1022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Hellwig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Neural splitting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lexical reconstruction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530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Dave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Joint generation + split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Computationally expensive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9719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ByT5 (byte-level)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linguistic constraints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42945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Kakwani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IndicBART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task-specific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7878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Sandhan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mT5 / SanskritShala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Limited domain adaptation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77840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Varshini Nair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Ayurveda-specific NLP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proposed solution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0188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Sreedeepa et al.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 Review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novel method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62984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Bhat Premjith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Transformer (semantics)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splitting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47219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93EE083-7EEB-6721-8206-62B387E1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Literature Review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06F9-103A-9F22-55FC-D0216130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1395B-595F-D5AA-7D92-61F2306120E2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44690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9DEF-1087-6059-F6D7-ACC0C5E2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C2FF79-689A-1F2C-4B33-87B14712B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defRPr sz="2000"/>
            </a:pPr>
            <a:r>
              <a:rPr lang="en-US" sz="2400"/>
              <a:t>Phase I gaps addressed</a:t>
            </a:r>
          </a:p>
          <a:p>
            <a:pPr>
              <a:defRPr sz="2000"/>
            </a:pPr>
            <a:r>
              <a:rPr lang="en-US"/>
              <a:t>No neural baselines for Ayurvedic Sanskrit → established.</a:t>
            </a:r>
          </a:p>
          <a:p>
            <a:pPr>
              <a:defRPr sz="2000"/>
            </a:pPr>
            <a:r>
              <a:rPr lang="en-US"/>
              <a:t>No two-stage pipeline → boundary detection + lexical restoration.</a:t>
            </a:r>
          </a:p>
          <a:p>
            <a:pPr>
              <a:defRPr sz="2000"/>
            </a:pPr>
            <a:r>
              <a:rPr lang="en-US"/>
              <a:t>Aggregate metrics only → confusion matrices + failure taxonomy.</a:t>
            </a:r>
          </a:p>
          <a:p>
            <a:pPr marL="0" indent="0">
              <a:buNone/>
              <a:defRPr sz="2000"/>
            </a:pPr>
            <a:r>
              <a:rPr lang="en-US" sz="2400"/>
              <a:t>Phase II gaps addressed</a:t>
            </a:r>
          </a:p>
          <a:p>
            <a:pPr>
              <a:defRPr sz="2000"/>
            </a:pPr>
            <a:r>
              <a:rPr lang="en-US"/>
              <a:t>No transformer fine-tuning on Ayurvedic → mT5, ByT5, UMT5, </a:t>
            </a:r>
            <a:r>
              <a:rPr lang="en-US" err="1"/>
              <a:t>IndicBART</a:t>
            </a:r>
            <a:r>
              <a:rPr lang="en-US"/>
              <a:t>.</a:t>
            </a:r>
          </a:p>
          <a:p>
            <a:pPr>
              <a:defRPr sz="2000"/>
            </a:pPr>
            <a:r>
              <a:rPr lang="en-US"/>
              <a:t>No neural-linguistic integration → Hybrid pipeline (</a:t>
            </a:r>
            <a:r>
              <a:rPr lang="en-US" err="1"/>
              <a:t>Paninian</a:t>
            </a:r>
            <a:r>
              <a:rPr lang="en-US"/>
              <a:t> +ByT5).</a:t>
            </a:r>
          </a:p>
          <a:p>
            <a:pPr>
              <a:defRPr sz="2000"/>
            </a:pPr>
            <a:r>
              <a:rPr lang="en-US"/>
              <a:t>No tokenizer benchmark → Char vs </a:t>
            </a:r>
            <a:r>
              <a:rPr lang="en-US" err="1"/>
              <a:t>SentencePiece</a:t>
            </a:r>
            <a:r>
              <a:rPr lang="en-US"/>
              <a:t> vs BPE.</a:t>
            </a:r>
          </a:p>
          <a:p>
            <a:pPr>
              <a:defRPr sz="2000"/>
            </a:pPr>
            <a:r>
              <a:rPr lang="en-US"/>
              <a:t>Heavy hardware dependency → Lightweight reproducible pipeline.</a:t>
            </a:r>
            <a:endParaRPr lang="en-IN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F8903F-1DA5-D3C7-73BF-CF6C729C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Research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7421A-1238-5BE8-2182-79A69BCE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A21EA-9BFD-6209-0A46-528F9C9815D7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989617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FDBE-5C05-FF8D-CBEA-02482A1A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DC467D-B02F-8F92-51C9-D6755BC27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/>
              <a:t>Kaggle Sandhi Dataset </a:t>
            </a:r>
          </a:p>
          <a:p>
            <a:pPr lvl="1"/>
            <a:r>
              <a:rPr lang="en-IN"/>
              <a:t>Publicly available Sanskrit compound–split corpus </a:t>
            </a:r>
          </a:p>
          <a:p>
            <a:pPr lvl="1"/>
            <a:r>
              <a:rPr lang="en-IN"/>
              <a:t>Covers Vowel, Consonant, and Visarga Sandhi types </a:t>
            </a:r>
          </a:p>
          <a:p>
            <a:pPr lvl="1"/>
            <a:r>
              <a:rPr lang="en-IN"/>
              <a:t>Contains approximately 13K–15K samples in Devanagari script </a:t>
            </a:r>
          </a:p>
          <a:p>
            <a:pPr lvl="1"/>
            <a:r>
              <a:rPr lang="en-IN"/>
              <a:t>Used for model training and benchmarking </a:t>
            </a:r>
          </a:p>
          <a:p>
            <a:r>
              <a:rPr lang="en-IN" err="1"/>
              <a:t>UoH</a:t>
            </a:r>
            <a:r>
              <a:rPr lang="en-IN"/>
              <a:t> Charaka Samhita Dataset </a:t>
            </a:r>
          </a:p>
          <a:p>
            <a:pPr lvl="1"/>
            <a:r>
              <a:rPr lang="en-IN"/>
              <a:t>Derived from digitized Ayurvedic Sanskrit texts </a:t>
            </a:r>
          </a:p>
          <a:p>
            <a:pPr lvl="1"/>
            <a:r>
              <a:rPr lang="en-IN"/>
              <a:t>Manually annotated and converted into structured CSV format </a:t>
            </a:r>
          </a:p>
          <a:p>
            <a:pPr lvl="1"/>
            <a:r>
              <a:rPr lang="en-IN"/>
              <a:t>Used for domain-specific evaluation and validation </a:t>
            </a:r>
          </a:p>
          <a:p>
            <a:pPr lvl="1"/>
            <a:r>
              <a:rPr lang="en-IN"/>
              <a:t>Captures authentic Ayurvedic vocabulary and compound patterns </a:t>
            </a:r>
          </a:p>
          <a:p>
            <a:r>
              <a:rPr lang="en-IN" sz="2400"/>
              <a:t>Total Dataset Size: ~13,000 samples </a:t>
            </a:r>
          </a:p>
          <a:p>
            <a:r>
              <a:rPr lang="en-IN" sz="2400"/>
              <a:t>Split Ratio: 80 : 10 : 10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B6B2B3-6C9B-977E-9E60-AFB0139E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Dataset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6EF4B-58BB-B2E1-3EAB-5F29078D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271CA-442E-795B-6331-6B5F1BDC42BB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85890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59D0-F964-0BEC-3196-85755598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1E22E3-FBCD-9790-8241-A91543881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b="1"/>
              <a:t>Phase II – Transformer Fine-Tuning</a:t>
            </a:r>
          </a:p>
          <a:p>
            <a:r>
              <a:rPr lang="en-IN"/>
              <a:t>Fine-tuning of: </a:t>
            </a:r>
          </a:p>
          <a:p>
            <a:pPr lvl="1"/>
            <a:r>
              <a:rPr lang="en-IN"/>
              <a:t>mT5 </a:t>
            </a:r>
          </a:p>
          <a:p>
            <a:pPr lvl="1"/>
            <a:r>
              <a:rPr lang="en-IN"/>
              <a:t>ByT5 </a:t>
            </a:r>
          </a:p>
          <a:p>
            <a:pPr lvl="1"/>
            <a:r>
              <a:rPr lang="en-IN"/>
              <a:t>UMT5 </a:t>
            </a:r>
          </a:p>
          <a:p>
            <a:pPr lvl="1"/>
            <a:r>
              <a:rPr lang="en-IN" err="1"/>
              <a:t>IndicBART</a:t>
            </a:r>
            <a:r>
              <a:rPr lang="en-IN"/>
              <a:t> </a:t>
            </a:r>
          </a:p>
          <a:p>
            <a:pPr lvl="1"/>
            <a:r>
              <a:rPr lang="en-IN"/>
              <a:t>Gemma-3-4B (</a:t>
            </a:r>
            <a:r>
              <a:rPr lang="en-IN" err="1"/>
              <a:t>QLoRA</a:t>
            </a:r>
            <a:r>
              <a:rPr lang="en-IN"/>
              <a:t>) </a:t>
            </a:r>
          </a:p>
          <a:p>
            <a:r>
              <a:rPr lang="en-IN"/>
              <a:t>Domain-specific training using: </a:t>
            </a:r>
          </a:p>
          <a:p>
            <a:pPr lvl="1"/>
            <a:r>
              <a:rPr lang="en-IN"/>
              <a:t>Kaggle Sandhi Dataset </a:t>
            </a:r>
          </a:p>
          <a:p>
            <a:pPr lvl="1"/>
            <a:r>
              <a:rPr lang="en-IN" err="1"/>
              <a:t>UoH</a:t>
            </a:r>
            <a:r>
              <a:rPr lang="en-IN"/>
              <a:t> Charaka Samhita Dataset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C31828-633F-B49E-2F6B-B564A6B4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Methodology – Phase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D5EB6-9CC1-873E-5CFC-75804D62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A8D73-9BE0-3313-AF3C-576337BD7602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612693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EA58-4F0C-E65A-0487-059F0073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AD11CE-7CA6-B687-6137-AD3F4EDBC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b="1"/>
              <a:t>Phase II – Two-Stage Neural Pipeline</a:t>
            </a:r>
          </a:p>
          <a:p>
            <a:r>
              <a:rPr lang="en-IN" b="1"/>
              <a:t>Preprocessing</a:t>
            </a:r>
            <a:r>
              <a:rPr lang="en-IN"/>
              <a:t> </a:t>
            </a:r>
          </a:p>
          <a:p>
            <a:pPr lvl="1"/>
            <a:r>
              <a:rPr lang="en-IN"/>
              <a:t>Unicode normalization </a:t>
            </a:r>
          </a:p>
          <a:p>
            <a:pPr lvl="1"/>
            <a:r>
              <a:rPr lang="en-IN"/>
              <a:t>Character-level tokenization </a:t>
            </a:r>
          </a:p>
          <a:p>
            <a:pPr lvl="1"/>
            <a:r>
              <a:rPr lang="en-IN"/>
              <a:t>Ayurvedic corpus cleaning </a:t>
            </a:r>
          </a:p>
          <a:p>
            <a:r>
              <a:rPr lang="en-IN" b="1"/>
              <a:t>Boundary Detection</a:t>
            </a:r>
            <a:r>
              <a:rPr lang="en-IN"/>
              <a:t> </a:t>
            </a:r>
          </a:p>
          <a:p>
            <a:pPr lvl="1"/>
            <a:r>
              <a:rPr lang="en-IN" err="1"/>
              <a:t>BiLSTM</a:t>
            </a:r>
            <a:r>
              <a:rPr lang="en-IN"/>
              <a:t>-based sequence </a:t>
            </a:r>
            <a:r>
              <a:rPr lang="en-IN" err="1"/>
              <a:t>labeling</a:t>
            </a:r>
            <a:r>
              <a:rPr lang="en-IN"/>
              <a:t> </a:t>
            </a:r>
          </a:p>
          <a:p>
            <a:pPr lvl="1"/>
            <a:r>
              <a:rPr lang="en-IN"/>
              <a:t>Identification of Sandhi split positions </a:t>
            </a:r>
          </a:p>
          <a:p>
            <a:r>
              <a:rPr lang="en-IN" b="1"/>
              <a:t>Lexical Restoration</a:t>
            </a:r>
            <a:r>
              <a:rPr lang="en-IN"/>
              <a:t> </a:t>
            </a:r>
          </a:p>
          <a:p>
            <a:pPr lvl="1"/>
            <a:r>
              <a:rPr lang="en-IN"/>
              <a:t>Seq2Seq + Attention mechanism </a:t>
            </a:r>
          </a:p>
          <a:p>
            <a:pPr lvl="1"/>
            <a:r>
              <a:rPr lang="en-IN"/>
              <a:t>Reconstruction of original lexical units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632C3B-AB1B-FA59-0AE1-6935C7B8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Methodology – Phase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E25FA-7E72-3607-61EA-A315ECED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9BAFF-6E82-4DD6-5F81-FCF4CABDA50D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50403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7028-DDDF-2F83-31CB-0F583BAD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4E879-6C69-1160-2EBD-7AEC56082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b="1"/>
              <a:t>Hybrid Neural-Linguistic Framework</a:t>
            </a:r>
          </a:p>
          <a:p>
            <a:r>
              <a:rPr lang="en-IN"/>
              <a:t>Integration of: </a:t>
            </a:r>
          </a:p>
          <a:p>
            <a:pPr lvl="1"/>
            <a:r>
              <a:rPr lang="en-IN"/>
              <a:t>Transformer predictions </a:t>
            </a:r>
          </a:p>
          <a:p>
            <a:pPr lvl="1"/>
            <a:r>
              <a:rPr lang="en-IN" err="1"/>
              <a:t>Paninian</a:t>
            </a:r>
            <a:r>
              <a:rPr lang="en-IN"/>
              <a:t> linguistic rules </a:t>
            </a:r>
          </a:p>
          <a:p>
            <a:pPr lvl="1"/>
            <a:r>
              <a:rPr lang="en-IN"/>
              <a:t>Candidate ranking mechanism </a:t>
            </a:r>
          </a:p>
          <a:p>
            <a:r>
              <a:rPr lang="en-IN"/>
              <a:t>Improved: </a:t>
            </a:r>
          </a:p>
          <a:p>
            <a:pPr lvl="1"/>
            <a:r>
              <a:rPr lang="en-IN"/>
              <a:t>Ambiguity resolution </a:t>
            </a:r>
          </a:p>
          <a:p>
            <a:pPr lvl="1"/>
            <a:r>
              <a:rPr lang="en-IN"/>
              <a:t>OOV handling </a:t>
            </a:r>
          </a:p>
          <a:p>
            <a:pPr lvl="1"/>
            <a:r>
              <a:rPr lang="en-IN"/>
              <a:t>Long compound splitting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5349ED-CFB8-F6D2-D9C7-B3325842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Methodology – Phase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45BD6-728B-CDDC-D6A1-A547EEEC9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B06EF-F45A-5C03-17F7-31AD658E8770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84282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45A9-4353-7091-BECA-2F84385A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BF1AFF-0F38-7550-2714-A2D910B3C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655" y="1136650"/>
            <a:ext cx="8697028" cy="49085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65CB88-A356-DE01-B918-9330146F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Architecture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ECC94-23B8-B203-EFB8-8EFDAF5E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6986B-151A-213B-822A-889E5CFCB906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0731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14D7-A0E1-A183-1A79-8027DECA0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7D3177-2EE5-4654-FFFB-B9765E2A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/>
              <a:t>Precision: quality of boundary predictions.</a:t>
            </a:r>
          </a:p>
          <a:p>
            <a:r>
              <a:rPr lang="en-IN" sz="2400"/>
              <a:t>Recall: boundary coverage.</a:t>
            </a:r>
          </a:p>
          <a:p>
            <a:r>
              <a:rPr lang="en-IN" sz="2400"/>
              <a:t>F1-Score: balanced measure.</a:t>
            </a:r>
          </a:p>
          <a:p>
            <a:r>
              <a:rPr lang="en-IN" sz="2400"/>
              <a:t>Exact Match (EM): % outputs matching ground truth fully.</a:t>
            </a:r>
          </a:p>
          <a:p>
            <a:r>
              <a:rPr lang="en-IN" sz="2400"/>
              <a:t>Character Error Rate (CER): char-level edit distance.</a:t>
            </a:r>
          </a:p>
          <a:p>
            <a:endParaRPr lang="en-IN" sz="2400">
              <a:latin typeface="Georgia"/>
            </a:endParaRPr>
          </a:p>
          <a:p>
            <a:r>
              <a:rPr lang="en-IN" sz="2400" err="1">
                <a:highlight>
                  <a:srgbClr val="FFFF00"/>
                </a:highlight>
                <a:latin typeface="Georgia"/>
              </a:rPr>
              <a:t>ब्रह्मदक्षाश्विदेवेशभरद्वाजपुनर्वसु-हुताशवेशचरकप्रभृतिभ्यो</a:t>
            </a:r>
            <a:r>
              <a:rPr lang="en-IN" sz="2400">
                <a:latin typeface="Georgia"/>
              </a:rPr>
              <a:t> </a:t>
            </a:r>
            <a:r>
              <a:rPr lang="en-IN" sz="2400" err="1">
                <a:latin typeface="Georgia"/>
              </a:rPr>
              <a:t>नमो</a:t>
            </a:r>
            <a:r>
              <a:rPr lang="en-IN" sz="2400">
                <a:latin typeface="Georgia"/>
              </a:rPr>
              <a:t> नमः,</a:t>
            </a:r>
          </a:p>
          <a:p>
            <a:r>
              <a:rPr lang="en-IN" sz="2400" err="1">
                <a:latin typeface="Georgia"/>
              </a:rPr>
              <a:t>बरह्मदक्ष+अश्विदेवेशभरद्वाजपुनर्वसुहुताशवेशचरकप्रभृतिभ्यः+नमः</a:t>
            </a:r>
            <a:r>
              <a:rPr lang="en-IN" sz="2400">
                <a:latin typeface="Georgia"/>
              </a:rPr>
              <a:t> </a:t>
            </a:r>
            <a:r>
              <a:rPr lang="en-IN" sz="2400" err="1">
                <a:latin typeface="Georgia"/>
              </a:rPr>
              <a:t>नम</a:t>
            </a:r>
            <a:r>
              <a:rPr lang="en-IN" sz="2400">
                <a:latin typeface="Georgia"/>
              </a:rPr>
              <a:t> </a:t>
            </a:r>
            <a:r>
              <a:rPr lang="en-IN" sz="2400" err="1">
                <a:latin typeface="Georgia"/>
              </a:rPr>
              <a:t>नम</a:t>
            </a:r>
            <a:r>
              <a:rPr lang="en-IN" sz="2400">
                <a:latin typeface="Georgia"/>
              </a:rPr>
              <a:t> </a:t>
            </a:r>
            <a:r>
              <a:rPr lang="en-IN" sz="2400" err="1">
                <a:latin typeface="Georgia"/>
              </a:rPr>
              <a:t>नमः</a:t>
            </a:r>
            <a:endParaRPr lang="en-IN" sz="2400">
              <a:latin typeface="Georgia"/>
            </a:endParaRPr>
          </a:p>
          <a:p>
            <a:endParaRPr lang="en-IN" sz="24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C43C4A-F0DA-13C9-1121-54690042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Evaluation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C2596-6469-6F15-A231-63421906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5148E-D032-54F0-FFD2-5E4DDDD52C97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991390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E756-F9A1-1D1E-0E0F-3303FBE1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48F687-FAE3-3ADF-04E6-41B20BEC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800"/>
              <a:t>Rule-based systems achieved the lowest performance due to poor handling of ambiguity and long compound words. </a:t>
            </a:r>
          </a:p>
          <a:p>
            <a:r>
              <a:rPr lang="en-IN" sz="1800"/>
              <a:t>Neural architectures such as </a:t>
            </a:r>
            <a:r>
              <a:rPr lang="en-IN" sz="1800" err="1"/>
              <a:t>BiLSTM</a:t>
            </a:r>
            <a:r>
              <a:rPr lang="en-IN" sz="1800"/>
              <a:t> and Seq2Seq significantly improved F1-score and Exact Match accuracy. </a:t>
            </a:r>
          </a:p>
          <a:p>
            <a:r>
              <a:rPr lang="en-IN" sz="1800"/>
              <a:t>Seq2Seq with Attention outperformed standard Seq2Seq by improving contextual lexical restoration. </a:t>
            </a:r>
          </a:p>
          <a:p>
            <a:r>
              <a:rPr lang="en-IN" sz="1800"/>
              <a:t>The Proposed Phase-I Pipeline achieved better balance across all metrics with an F1-score of 0.826 and reduced CER of 0.23. </a:t>
            </a:r>
          </a:p>
          <a:p>
            <a:r>
              <a:rPr lang="en-IN" sz="1800"/>
              <a:t>Transformer-based models demonstrated strong contextual understanding and better domain adaptation for Ayurvedic Sanskrit. </a:t>
            </a:r>
          </a:p>
          <a:p>
            <a:r>
              <a:rPr lang="en-IN" sz="1800"/>
              <a:t>The Hybrid Pipeline achieved the best overall performance with: </a:t>
            </a:r>
          </a:p>
          <a:p>
            <a:pPr lvl="1"/>
            <a:r>
              <a:rPr lang="en-IN" sz="2000" b="1"/>
              <a:t>F1-score:</a:t>
            </a:r>
            <a:r>
              <a:rPr lang="en-IN" sz="2000"/>
              <a:t> 0.88 </a:t>
            </a:r>
          </a:p>
          <a:p>
            <a:pPr lvl="1"/>
            <a:r>
              <a:rPr lang="en-IN" sz="2000" b="1"/>
              <a:t>Exact Match:</a:t>
            </a:r>
            <a:r>
              <a:rPr lang="en-IN" sz="2000"/>
              <a:t> 0.78 </a:t>
            </a:r>
          </a:p>
          <a:p>
            <a:pPr lvl="1"/>
            <a:r>
              <a:rPr lang="en-IN" sz="2000" b="1"/>
              <a:t>CER:</a:t>
            </a:r>
            <a:r>
              <a:rPr lang="en-IN" sz="2000"/>
              <a:t> 0.12 </a:t>
            </a:r>
          </a:p>
          <a:p>
            <a:pPr lvl="1"/>
            <a:r>
              <a:rPr lang="en-IN" sz="2000" b="1"/>
              <a:t>Accuracy:</a:t>
            </a:r>
            <a:r>
              <a:rPr lang="en-IN" sz="2000"/>
              <a:t> 84%</a:t>
            </a:r>
          </a:p>
          <a:p>
            <a:endParaRPr lang="en-IN" sz="18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28468E-B90C-43D9-65AF-4E7AC600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Result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7F602-392E-CFA7-43D6-5ECC13CA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CE85F-1FEE-92DE-59D0-769EFC40CCF1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38197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8A8EC-A5D3-FAFA-7DC6-F0C84060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F5F875-92C0-33AC-AE55-D51E2834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Tokenizer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9A928-C29D-D4F9-5B76-D1D7CDD4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EF4F9-225D-F7E9-DC50-6603A68D9CF9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2FF139F-5E1D-233A-6096-5B75D291DA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176196"/>
              </p:ext>
            </p:extLst>
          </p:nvPr>
        </p:nvGraphicFramePr>
        <p:xfrm>
          <a:off x="918369" y="1350645"/>
          <a:ext cx="10475087" cy="39319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12087">
                  <a:extLst>
                    <a:ext uri="{9D8B030D-6E8A-4147-A177-3AD203B41FA5}">
                      <a16:colId xmlns:a16="http://schemas.microsoft.com/office/drawing/2014/main" val="16051267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027502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149927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231282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8516492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56190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Top-k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BLEU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Assessment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179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6.1998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984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5.9516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0.2485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Best BLEU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3806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6.2554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0.2218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33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SentencePiece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57.8897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unstable perplexity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898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SentencePiece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47.7948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0.2352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00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SentencePiece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73.9025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0.1515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worst perplexity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13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Tiktoken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3.6344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0.1588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low perplexity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8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Tiktoken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3.4948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0.2098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Best Perplexity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285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Tiktoken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3.9484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0.1658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consistent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290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97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E06FD-43EA-D771-FD12-6AF51523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646497-6AB0-3A18-4B4F-B5C2B160C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758953"/>
              </p:ext>
            </p:extLst>
          </p:nvPr>
        </p:nvGraphicFramePr>
        <p:xfrm>
          <a:off x="571500" y="1136650"/>
          <a:ext cx="1120933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67">
                  <a:extLst>
                    <a:ext uri="{9D8B030D-6E8A-4147-A177-3AD203B41FA5}">
                      <a16:colId xmlns:a16="http://schemas.microsoft.com/office/drawing/2014/main" val="3778157700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3108688636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4170070826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3059049018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3675503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BLEU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Overall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96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616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SentencePiece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Moderately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778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Tiktoken (BPE)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36742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30C3AA4-4353-630F-2339-8C95C6E3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Tokenizer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B374B-1294-8DC5-EBD4-96A9CFEB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7B1E7-8BD5-4723-2B8B-E4DE1816D3B9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767217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9204-8B40-06C7-1CC3-D532E43AD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54A70-647F-6F9E-F552-7D284984A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347" y="1442080"/>
            <a:ext cx="6199644" cy="42976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C0DB5FD-9089-B396-F98C-1B7FAF7F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UMT5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8F357-38E9-8916-C543-37D7C1E0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FC496-48F2-1EFE-CAE2-207A44DF0AEB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77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243A-73E3-E7A6-5413-5EE89110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9D4F76-0C59-A60C-1C7C-FFF792F8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UMT5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006B4-279F-C344-3E5F-BD496F28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C8D7F-EEA6-3C69-8BC8-CA0ACB42FD1F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11FFBF-EE8D-D48F-D7C7-46861279E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5762" y="1442080"/>
            <a:ext cx="6400813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C46C-239A-C032-1B24-59B5B905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61AC08-8A43-2056-3966-DAEBBB3E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UMT5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59D8B-81F8-A2E9-859E-20B51CC9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7DEC7-D1C2-7B36-362B-C76023AD98A8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4E5851-6B29-D865-C191-D32796526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622" y="1528949"/>
            <a:ext cx="6355093" cy="412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65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FC52-8E77-0EAC-70AD-95BDA524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AAB0F7-8F02-2BBD-9A30-3876E64C8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762" y="1446652"/>
            <a:ext cx="6400813" cy="42885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F806E-967A-AE3D-E48F-27CBB16E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Gemma 3 4B-it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26970-1845-0756-5AC9-67F6602D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452DE-4033-77BA-30F1-A2230EBE233F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694207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FBD1-2790-B54E-70AA-B1FA23F5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8BF822-B6A2-CAEE-0B5F-FAA0BD783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762" y="1446652"/>
            <a:ext cx="6400813" cy="42885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ECB002-16F8-0E3E-71DE-CA311E89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Gemma 3 4B-it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DF7D0-10A4-C05C-CDFF-D735C947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4AC14-CC4B-DAFD-8240-21FD46F0A833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934442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059A-8A66-EF27-B15C-68CBB517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C9227E-F262-38C6-1900-6EE7A9137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386" y="1535045"/>
            <a:ext cx="6321565" cy="411176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E70994-25FE-F3C7-3084-8D51015B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Gemma 3 4B-it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44A66-48B5-B3F8-FE13-1CDC44FF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07C1E-BA76-9FAA-6659-BB5D98285957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02428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A3FA-DDE9-6BDB-95FF-D9F74421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46E331-D114-0DA0-C6EA-9DC19177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Hybrid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01940-AE1B-A099-8C3F-985F2C38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4D3B6-A199-FD82-AEC4-3C7EC9D9CA5B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85165E-1BAE-512C-4BBF-B120D8609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347" y="1442080"/>
            <a:ext cx="6199644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73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B670-D553-6BC2-90B0-F88E239B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112A82-15FA-43EF-326B-B58B0F2DE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5572" y="1528949"/>
            <a:ext cx="4901194" cy="41239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88CA373-14B1-9279-F060-BEA7CBB3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Hybrid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C3C6C-50C8-E413-9A2D-B923E850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B88DC-788E-54F9-1438-D2DFE908217D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4052506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7856-3583-4ACE-F3FB-B53F1560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64596D-58B4-510E-3B55-3BD3CD80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8038" y="1442080"/>
            <a:ext cx="6556261" cy="42976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9772C23-42F3-25BB-1DEB-98633BE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Hybrid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5BA31-037C-1D29-DC07-54C012B4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4CDB4-F2AF-1F8D-8CEB-D83124D652CE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940548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EB93-C271-3115-6586-9586A1CD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2368E2-200B-A007-E67E-0FFB954EB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558073"/>
              </p:ext>
            </p:extLst>
          </p:nvPr>
        </p:nvGraphicFramePr>
        <p:xfrm>
          <a:off x="571500" y="1136650"/>
          <a:ext cx="11209335" cy="498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67">
                  <a:extLst>
                    <a:ext uri="{9D8B030D-6E8A-4147-A177-3AD203B41FA5}">
                      <a16:colId xmlns:a16="http://schemas.microsoft.com/office/drawing/2014/main" val="91544851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1791538758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3630574489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1205679354"/>
                    </a:ext>
                  </a:extLst>
                </a:gridCol>
                <a:gridCol w="2241867">
                  <a:extLst>
                    <a:ext uri="{9D8B030D-6E8A-4147-A177-3AD203B41FA5}">
                      <a16:colId xmlns:a16="http://schemas.microsoft.com/office/drawing/2014/main" val="65984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Exact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60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Rule-Based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69.2%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87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RNN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468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74.6%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879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Seq2Seq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306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Seq2Seq + 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3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Pipeline (Ph.I)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55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UMT5 (Fine-tuned)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0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mT5 (Fine-tuned)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74.1%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58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ByT5 (Fine-tuned)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75.0%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401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Gemma-3-4b-it (Fine-tuned)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04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Hybrid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24402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4DB9014-98CB-A37C-22B8-2BD6378F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Result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B10A0-5078-26FF-36B9-FFEBC332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89726-0969-0F26-3123-4B823AC0FF29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2844568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87A1-9AC6-0047-75B4-7F3A8B0F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A628CA-E0D5-9868-7BAA-04900FE94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523204"/>
              </p:ext>
            </p:extLst>
          </p:nvPr>
        </p:nvGraphicFramePr>
        <p:xfrm>
          <a:off x="571500" y="1136650"/>
          <a:ext cx="11209338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446">
                  <a:extLst>
                    <a:ext uri="{9D8B030D-6E8A-4147-A177-3AD203B41FA5}">
                      <a16:colId xmlns:a16="http://schemas.microsoft.com/office/drawing/2014/main" val="1889189670"/>
                    </a:ext>
                  </a:extLst>
                </a:gridCol>
                <a:gridCol w="3736446">
                  <a:extLst>
                    <a:ext uri="{9D8B030D-6E8A-4147-A177-3AD203B41FA5}">
                      <a16:colId xmlns:a16="http://schemas.microsoft.com/office/drawing/2014/main" val="283881706"/>
                    </a:ext>
                  </a:extLst>
                </a:gridCol>
                <a:gridCol w="3736446">
                  <a:extLst>
                    <a:ext uri="{9D8B030D-6E8A-4147-A177-3AD203B41FA5}">
                      <a16:colId xmlns:a16="http://schemas.microsoft.com/office/drawing/2014/main" val="311459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SDG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562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SDG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Quality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Computational access to classical Sanskrit Ayurvedic texts for students and researchers.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24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SDG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Good Health and Well-being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Digital preservation of Ayurvedic medical knowledge supports traditional healthcare research.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50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SDG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Industry, Innovation and Infrastructure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Lightweight, reusable open NLP infrastructure for low-resource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7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SDG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Reduced Inequalities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Democratizes Sanskrit NLP — no high-end GPU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3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SDG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Sustainable Communities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Preserves India's intangible cultural and literary heritage.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7921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B3CFD31-017D-DD51-5C38-C32CF1E0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Alignment with SDG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717F2-54BE-D2EC-948B-DDFC4AE6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411E6-81F3-A5FB-093A-9268B6BC9191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113810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2566-8215-81DB-86B8-4CD0BF20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E67DAC-89E2-6105-C17A-B3600A58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/>
              <a:t>Dataset size — ∼15,000 samples; small for full transformer training.</a:t>
            </a:r>
          </a:p>
          <a:p>
            <a:r>
              <a:rPr lang="en-IN" sz="2400"/>
              <a:t>Narrow domain — only specific texts can be covered.</a:t>
            </a:r>
          </a:p>
          <a:p>
            <a:r>
              <a:rPr lang="en-IN" sz="2400"/>
              <a:t>Word-level focus — no sentence-/discourse-level disambiguation.</a:t>
            </a:r>
          </a:p>
          <a:p>
            <a:r>
              <a:rPr lang="en-IN" sz="2400"/>
              <a:t>Long compounds still degrade significantly.</a:t>
            </a:r>
          </a:p>
          <a:p>
            <a:r>
              <a:rPr lang="en-IN" sz="2400"/>
              <a:t>Rule engine coverage — </a:t>
            </a:r>
            <a:r>
              <a:rPr lang="en-IN" sz="2400" err="1"/>
              <a:t>Paninian</a:t>
            </a:r>
            <a:r>
              <a:rPr lang="en-IN" sz="2400"/>
              <a:t> rules implemented are partial, not exhaustive.</a:t>
            </a:r>
          </a:p>
          <a:p>
            <a:r>
              <a:rPr lang="en-IN" sz="2400"/>
              <a:t>Annotation bottleneck — manual expert linguist effort limits dataset growth</a:t>
            </a:r>
            <a:endParaRPr lang="en-IN" sz="24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54A008-8AFA-360A-A331-EA000D51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EC62E-7DE1-BB51-B60A-BB69642C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5E3A6-4D0F-5125-CEE4-349976C341C8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4077235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CA52-4CE5-282A-75A8-260F24763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735217-1CD2-237B-FC26-172975705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1600" b="1"/>
              <a:t>Corpus Expansion</a:t>
            </a:r>
            <a:r>
              <a:rPr lang="en-IN" sz="1600"/>
              <a:t> – Increase annotated Ayurvedic Sanskrit datasets for better generalization and reduced OOV errors.</a:t>
            </a:r>
          </a:p>
          <a:p>
            <a:r>
              <a:rPr lang="en-IN" sz="1600" b="1"/>
              <a:t>Full Disambiguation Framework</a:t>
            </a:r>
            <a:r>
              <a:rPr lang="en-IN" sz="1600"/>
              <a:t> – Use sentence-level contextual understanding for improved ambiguity resolution.</a:t>
            </a:r>
          </a:p>
          <a:p>
            <a:r>
              <a:rPr lang="en-IN" sz="1600" b="1"/>
              <a:t>End-to-End Transformer Fine-Tuning</a:t>
            </a:r>
            <a:r>
              <a:rPr lang="en-IN" sz="1600"/>
              <a:t> – Extend fine-tuning from word-level to sentence and discourse-level learning.</a:t>
            </a:r>
          </a:p>
          <a:p>
            <a:r>
              <a:rPr lang="en-IN" sz="1600" b="1"/>
              <a:t>Extension to Other Sanskrit Domains</a:t>
            </a:r>
            <a:r>
              <a:rPr lang="en-IN" sz="1600"/>
              <a:t> – Adapt the framework to philosophical, poetic, and legal Sanskrit texts.</a:t>
            </a:r>
          </a:p>
          <a:p>
            <a:r>
              <a:rPr lang="en-IN" sz="1600" b="1"/>
              <a:t>Downstream NLP Integration</a:t>
            </a:r>
            <a:r>
              <a:rPr lang="en-IN" sz="1600"/>
              <a:t> – Integrate Sandhi splitting into parsing, translation, and knowledge graph pipelines.</a:t>
            </a:r>
          </a:p>
          <a:p>
            <a:r>
              <a:rPr lang="en-IN" sz="1600" b="1"/>
              <a:t>Multimodal and Cross-lingual Transfer</a:t>
            </a:r>
            <a:r>
              <a:rPr lang="en-IN" sz="1600"/>
              <a:t> – Explore transfer learning from morphologically rich languages like Tamil and Finnish.</a:t>
            </a:r>
          </a:p>
          <a:p>
            <a:r>
              <a:rPr lang="en-IN" sz="1600" b="1"/>
              <a:t>Lightweight Model Deployment</a:t>
            </a:r>
            <a:r>
              <a:rPr lang="en-IN" sz="1600"/>
              <a:t> – Apply compression and quantization for mobile and edge-device deployment.</a:t>
            </a:r>
          </a:p>
          <a:p>
            <a:r>
              <a:rPr lang="en-IN" sz="1600" b="1"/>
              <a:t>Active Learning and Annotation Tools</a:t>
            </a:r>
            <a:r>
              <a:rPr lang="en-IN" sz="1600"/>
              <a:t> – Develop semi-automatic annotation systems to accelerate dataset creation.</a:t>
            </a:r>
          </a:p>
          <a:p>
            <a:endParaRPr lang="en-IN" sz="16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DDBEC-5604-E64E-B5C1-86624209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Future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AD81D-A38F-3629-A37F-A1F06D7A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D5E8F-CB24-DFCF-7335-E0C40F982406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935419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AC9E-F778-B614-AF7C-95C24E045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6CD217-A1EF-2A9F-BF6E-55650089A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/>
              <a:t>Phase I paper – Awaiting approval – ICT4SD2026</a:t>
            </a:r>
          </a:p>
          <a:p>
            <a:endParaRPr lang="en-IN" sz="2400">
              <a:latin typeface="Georgia"/>
            </a:endParaRPr>
          </a:p>
          <a:p>
            <a:endParaRPr lang="en-IN" sz="2400">
              <a:latin typeface="Georgia"/>
            </a:endParaRPr>
          </a:p>
          <a:p>
            <a:r>
              <a:rPr lang="en-IN" sz="2400">
                <a:latin typeface="Georgia"/>
              </a:rPr>
              <a:t>Phase II Paper – </a:t>
            </a:r>
            <a:r>
              <a:rPr lang="en-IN" sz="2400"/>
              <a:t>Awaiting CFP – KalingaConf2026</a:t>
            </a:r>
            <a:endParaRPr lang="en-IN" sz="2400">
              <a:latin typeface="Georgi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5BD326-9E87-C541-B765-BD624190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Publications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A149A-F854-1EC6-345F-A6E4789A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54241-7D52-E9B4-1B30-1E97093852B1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456817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A82A-DCA1-DBFF-76A7-F043340D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54FBD6-A614-D757-1679-15C943012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IN" sz="1600" err="1"/>
              <a:t>Aralikatte</a:t>
            </a:r>
            <a:r>
              <a:rPr lang="en-IN" sz="1600"/>
              <a:t>, R., </a:t>
            </a:r>
            <a:r>
              <a:rPr lang="en-IN" sz="1600" err="1"/>
              <a:t>Gantayat</a:t>
            </a:r>
            <a:r>
              <a:rPr lang="en-IN" sz="1600"/>
              <a:t>, N., Panwar, N., Sankaran, A., &amp; Mani, S. (2018). </a:t>
            </a:r>
            <a:r>
              <a:rPr lang="en-IN" sz="1600" i="1"/>
              <a:t>Sanskrit Sandhi splitting using seq2(</a:t>
            </a:r>
            <a:r>
              <a:rPr lang="en-IN" sz="1600" i="1" err="1"/>
              <a:t>seq</a:t>
            </a:r>
            <a:r>
              <a:rPr lang="en-IN" sz="1600" i="1"/>
              <a:t>)</a:t>
            </a:r>
            <a:r>
              <a:rPr lang="en-IN" sz="1600"/>
              <a:t>. In </a:t>
            </a:r>
            <a:r>
              <a:rPr lang="en-IN" sz="1600" i="1"/>
              <a:t>Proceedings of the 2018 Conference on Empirical Methods in Natural Language Processing (EMNLP)</a:t>
            </a:r>
            <a:r>
              <a:rPr lang="en-IN" sz="1600"/>
              <a:t>.</a:t>
            </a:r>
          </a:p>
          <a:p>
            <a:r>
              <a:rPr lang="en-IN" sz="1600"/>
              <a:t>Bhat, S., &amp; Premjith, B. (2025). </a:t>
            </a:r>
            <a:r>
              <a:rPr lang="en-IN" sz="1600" i="1"/>
              <a:t>Transformer-based semantic analysis for Sanskrit texts</a:t>
            </a:r>
            <a:r>
              <a:rPr lang="en-IN" sz="1600"/>
              <a:t>. </a:t>
            </a:r>
            <a:r>
              <a:rPr lang="en-IN" sz="1600" i="1"/>
              <a:t>Neural Computing and Applications</a:t>
            </a:r>
            <a:r>
              <a:rPr lang="en-IN" sz="1600"/>
              <a:t>.</a:t>
            </a:r>
          </a:p>
          <a:p>
            <a:r>
              <a:rPr lang="en-IN" sz="1600"/>
              <a:t>Dave, S., Singh, A., Lall, P., &amp; Sahoo, S. (2020). </a:t>
            </a:r>
            <a:r>
              <a:rPr lang="en-IN" sz="1600" i="1"/>
              <a:t>Neural compound-word (Sandhi) generation and splitting in Sanskrit language</a:t>
            </a:r>
            <a:r>
              <a:rPr lang="en-IN" sz="1600"/>
              <a:t>. </a:t>
            </a:r>
            <a:r>
              <a:rPr lang="en-IN" sz="1600" i="1" err="1"/>
              <a:t>arXiv</a:t>
            </a:r>
            <a:r>
              <a:rPr lang="en-IN" sz="1600" i="1"/>
              <a:t> preprint arXiv:2010.12940</a:t>
            </a:r>
            <a:r>
              <a:rPr lang="en-IN" sz="1600"/>
              <a:t>.</a:t>
            </a:r>
          </a:p>
          <a:p>
            <a:r>
              <a:rPr lang="en-IN" sz="1600"/>
              <a:t>Hellwig, O., &amp; </a:t>
            </a:r>
            <a:r>
              <a:rPr lang="en-IN" sz="1600" err="1"/>
              <a:t>Nehrdich</a:t>
            </a:r>
            <a:r>
              <a:rPr lang="en-IN" sz="1600"/>
              <a:t>, S. (2019). </a:t>
            </a:r>
            <a:r>
              <a:rPr lang="en-IN" sz="1600" i="1"/>
              <a:t>Sanskrit word segmentation using character-level recurrent and convolutional neural networks</a:t>
            </a:r>
            <a:r>
              <a:rPr lang="en-IN" sz="1600"/>
              <a:t>. In </a:t>
            </a:r>
            <a:r>
              <a:rPr lang="en-IN" sz="1600" i="1"/>
              <a:t>Proceedings of COLING 2019</a:t>
            </a:r>
            <a:r>
              <a:rPr lang="en-IN" sz="1600"/>
              <a:t>.</a:t>
            </a:r>
          </a:p>
          <a:p>
            <a:r>
              <a:rPr lang="en-IN" sz="1600" err="1"/>
              <a:t>Kakwani</a:t>
            </a:r>
            <a:r>
              <a:rPr lang="en-IN" sz="1600"/>
              <a:t>, D., </a:t>
            </a:r>
            <a:r>
              <a:rPr lang="en-IN" sz="1600" err="1"/>
              <a:t>Kunchukuttan</a:t>
            </a:r>
            <a:r>
              <a:rPr lang="en-IN" sz="1600"/>
              <a:t>, A., Golla, S., et al. (2022). </a:t>
            </a:r>
            <a:r>
              <a:rPr lang="en-IN" sz="1600" i="1" err="1"/>
              <a:t>IndicBART</a:t>
            </a:r>
            <a:r>
              <a:rPr lang="en-IN" sz="1600" i="1"/>
              <a:t>: A pre-trained model for Indic natural language generation</a:t>
            </a:r>
            <a:r>
              <a:rPr lang="en-IN" sz="1600"/>
              <a:t>. In </a:t>
            </a:r>
            <a:r>
              <a:rPr lang="en-IN" sz="1600" i="1"/>
              <a:t>Findings of ACL 2022</a:t>
            </a:r>
            <a:r>
              <a:rPr lang="en-IN" sz="1600"/>
              <a:t>.</a:t>
            </a:r>
          </a:p>
          <a:p>
            <a:r>
              <a:rPr lang="en-IN" sz="1600"/>
              <a:t>Reddy, V., Krishna, A., Sharma, V., Gupta, P., &amp; Goyal, P. (2018). </a:t>
            </a:r>
            <a:r>
              <a:rPr lang="en-IN" sz="1600" i="1"/>
              <a:t>Building a word </a:t>
            </a:r>
            <a:r>
              <a:rPr lang="en-IN" sz="1600" i="1" err="1"/>
              <a:t>segmenter</a:t>
            </a:r>
            <a:r>
              <a:rPr lang="en-IN" sz="1600" i="1"/>
              <a:t> for Sanskrit overnight</a:t>
            </a:r>
            <a:r>
              <a:rPr lang="en-IN" sz="1600"/>
              <a:t>. In </a:t>
            </a:r>
            <a:r>
              <a:rPr lang="en-IN" sz="1600" i="1"/>
              <a:t>Proceedings of the International Conference on Language Resources and Evaluation (LREC 2018)</a:t>
            </a:r>
            <a:r>
              <a:rPr lang="en-IN" sz="1600"/>
              <a:t>.</a:t>
            </a:r>
          </a:p>
          <a:p>
            <a:r>
              <a:rPr lang="en-IN" sz="1600"/>
              <a:t>Sandhan, J., Singha, A., Adhikary, N., et al. (2023). </a:t>
            </a:r>
            <a:r>
              <a:rPr lang="en-IN" sz="1600" i="1" err="1"/>
              <a:t>SanskritShala</a:t>
            </a:r>
            <a:r>
              <a:rPr lang="en-IN" sz="1600" i="1"/>
              <a:t>: A neural Sanskrit NLP toolkit with web-based interface</a:t>
            </a:r>
            <a:r>
              <a:rPr lang="en-IN" sz="1600"/>
              <a:t>. In </a:t>
            </a:r>
            <a:r>
              <a:rPr lang="en-IN" sz="1600" i="1"/>
              <a:t>Proceedings of ACL 2023</a:t>
            </a:r>
            <a:r>
              <a:rPr lang="en-IN" sz="1600"/>
              <a:t>.</a:t>
            </a:r>
          </a:p>
          <a:p>
            <a:r>
              <a:rPr lang="en-IN" sz="1600"/>
              <a:t>Sen, S., </a:t>
            </a:r>
            <a:r>
              <a:rPr lang="en-IN" sz="1600" err="1"/>
              <a:t>Hasanuzzaman</a:t>
            </a:r>
            <a:r>
              <a:rPr lang="en-IN" sz="1600"/>
              <a:t>, M., Ekbal, A., Bhattacharyya, P., &amp; Way, A. (2022). </a:t>
            </a:r>
            <a:r>
              <a:rPr lang="en-IN" sz="1600" i="1"/>
              <a:t>ByT5 model for massively multilingual grapheme-to-phoneme conversion</a:t>
            </a:r>
            <a:r>
              <a:rPr lang="en-IN" sz="1600"/>
              <a:t>. </a:t>
            </a:r>
            <a:r>
              <a:rPr lang="en-IN" sz="1600" i="1"/>
              <a:t>Transactions of the Association for Computational Linguistics (TACL)</a:t>
            </a:r>
            <a:r>
              <a:rPr lang="en-IN" sz="1600"/>
              <a:t>.</a:t>
            </a:r>
          </a:p>
          <a:p>
            <a:r>
              <a:rPr lang="en-IN" sz="1600" err="1"/>
              <a:t>Sreedeepa</a:t>
            </a:r>
            <a:r>
              <a:rPr lang="en-IN" sz="1600"/>
              <a:t>, H. S., et al. (2024). </a:t>
            </a:r>
            <a:r>
              <a:rPr lang="en-IN" sz="1600" i="1"/>
              <a:t>Deep learning methods for Sanskrit language processing: A review</a:t>
            </a:r>
            <a:r>
              <a:rPr lang="en-IN" sz="1600"/>
              <a:t>. </a:t>
            </a:r>
            <a:r>
              <a:rPr lang="en-IN" sz="1600" i="1"/>
              <a:t>Journal of Computational Linguistics</a:t>
            </a:r>
            <a:r>
              <a:rPr lang="en-IN" sz="1600"/>
              <a:t>.</a:t>
            </a:r>
          </a:p>
          <a:p>
            <a:r>
              <a:rPr lang="en-IN" sz="1600"/>
              <a:t>Varshini, R., &amp; Nair, J. (2023). </a:t>
            </a:r>
            <a:r>
              <a:rPr lang="en-IN" sz="1600" i="1"/>
              <a:t>Natural language processing for Ayurvedic Sanskrit texts: A survey</a:t>
            </a:r>
            <a:r>
              <a:rPr lang="en-IN" sz="1600"/>
              <a:t>. </a:t>
            </a:r>
            <a:r>
              <a:rPr lang="en-IN" sz="1600" i="1"/>
              <a:t>Procedia Computer Science</a:t>
            </a:r>
            <a:r>
              <a:rPr lang="en-IN" sz="160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00DEB6-F416-26F2-78D1-A1D7BA1C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latin typeface="Georgia"/>
              </a:rPr>
              <a:t>References</a:t>
            </a:r>
            <a:endParaRPr lang="en-IN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C5F8C-5D49-722A-1DB0-C9ACC1A1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DC384-22AB-75F1-9757-B41096F6AD96}"/>
              </a:ext>
            </a:extLst>
          </p:cNvPr>
          <p:cNvSpPr txBox="1"/>
          <p:nvPr/>
        </p:nvSpPr>
        <p:spPr>
          <a:xfrm>
            <a:off x="2976282" y="6488668"/>
            <a:ext cx="67145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>
                <a:solidFill>
                  <a:schemeClr val="bg1">
                    <a:lumMod val="85000"/>
                  </a:schemeClr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831074221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AlignmentVTI</vt:lpstr>
      <vt:lpstr>office theme</vt:lpstr>
      <vt:lpstr>PowerPoint Presentation</vt:lpstr>
      <vt:lpstr>Outline</vt:lpstr>
      <vt:lpstr>Introduction</vt:lpstr>
      <vt:lpstr>Problem Definition</vt:lpstr>
      <vt:lpstr>Objectives</vt:lpstr>
      <vt:lpstr>Literature Review Summary</vt:lpstr>
      <vt:lpstr>Research Gap</vt:lpstr>
      <vt:lpstr>Dataset Description</vt:lpstr>
      <vt:lpstr>Methodology – Phase II</vt:lpstr>
      <vt:lpstr>Methodology – Phase I</vt:lpstr>
      <vt:lpstr>Methodology – Phase II</vt:lpstr>
      <vt:lpstr>Architecture Diagram</vt:lpstr>
      <vt:lpstr>Evaluation Metrics</vt:lpstr>
      <vt:lpstr>Result Analysis</vt:lpstr>
      <vt:lpstr>Tokenizer Analysis</vt:lpstr>
      <vt:lpstr>Tokenizer Analysis</vt:lpstr>
      <vt:lpstr>UMT5</vt:lpstr>
      <vt:lpstr>UMT5</vt:lpstr>
      <vt:lpstr>UMT5</vt:lpstr>
      <vt:lpstr>Gemma 3 4B-it</vt:lpstr>
      <vt:lpstr>Gemma 3 4B-it</vt:lpstr>
      <vt:lpstr>Gemma 3 4B-it</vt:lpstr>
      <vt:lpstr>Hybrid Pipeline</vt:lpstr>
      <vt:lpstr>Hybrid Pipeline</vt:lpstr>
      <vt:lpstr>Hybrid Pipeline</vt:lpstr>
      <vt:lpstr>Result Table</vt:lpstr>
      <vt:lpstr>Alignment with SDG Goals</vt:lpstr>
      <vt:lpstr>Limitations</vt:lpstr>
      <vt:lpstr>Future Works</vt:lpstr>
      <vt:lpstr>Publications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Sunitha EV</dc:creator>
  <cp:revision>2</cp:revision>
  <dcterms:created xsi:type="dcterms:W3CDTF">2025-02-06T04:27:38Z</dcterms:created>
  <dcterms:modified xsi:type="dcterms:W3CDTF">2026-05-26T07:44:50Z</dcterms:modified>
</cp:coreProperties>
</file>