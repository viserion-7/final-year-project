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 id="2147483660" r:id="rId2"/>
  </p:sldMasterIdLst>
  <p:notesMasterIdLst>
    <p:notesMasterId r:id="rId22"/>
  </p:notesMasterIdLst>
  <p:sldIdLst>
    <p:sldId id="261" r:id="rId3"/>
    <p:sldId id="328" r:id="rId4"/>
    <p:sldId id="329" r:id="rId5"/>
    <p:sldId id="330" r:id="rId6"/>
    <p:sldId id="331" r:id="rId7"/>
    <p:sldId id="332" r:id="rId8"/>
    <p:sldId id="333" r:id="rId9"/>
    <p:sldId id="334" r:id="rId10"/>
    <p:sldId id="335" r:id="rId11"/>
    <p:sldId id="336" r:id="rId12"/>
    <p:sldId id="345" r:id="rId13"/>
    <p:sldId id="346" r:id="rId14"/>
    <p:sldId id="338" r:id="rId15"/>
    <p:sldId id="342" r:id="rId16"/>
    <p:sldId id="343" r:id="rId17"/>
    <p:sldId id="344" r:id="rId18"/>
    <p:sldId id="339" r:id="rId19"/>
    <p:sldId id="340" r:id="rId20"/>
    <p:sldId id="34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A11025-6695-1DC8-5ED7-27D94432F8C0}" v="47" dt="2025-12-22T16:26:47.440"/>
    <p1510:client id="{EF6E9588-FCCC-4CBA-AEB2-A49589A3360E}" v="167" dt="2025-12-23T07:05:03.5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1013"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84B3B-E091-4218-B734-7F09C964D9E9}" type="datetimeFigureOut">
              <a:rPr lang="en-IN" smtClean="0"/>
              <a:t>23-12-2025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A2D287-CFE8-45F7-B578-1940EAB6BD47}" type="slidenum">
              <a:rPr lang="en-IN" smtClean="0"/>
              <a:t>‹#›</a:t>
            </a:fld>
            <a:endParaRPr lang="en-IN"/>
          </a:p>
        </p:txBody>
      </p:sp>
    </p:spTree>
    <p:extLst>
      <p:ext uri="{BB962C8B-B14F-4D97-AF65-F5344CB8AC3E}">
        <p14:creationId xmlns:p14="http://schemas.microsoft.com/office/powerpoint/2010/main" val="1452116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3A2D287-CFE8-45F7-B578-1940EAB6BD47}" type="slidenum">
              <a:rPr lang="en-IN" smtClean="0"/>
              <a:t>2</a:t>
            </a:fld>
            <a:endParaRPr lang="en-IN"/>
          </a:p>
        </p:txBody>
      </p:sp>
    </p:spTree>
    <p:extLst>
      <p:ext uri="{BB962C8B-B14F-4D97-AF65-F5344CB8AC3E}">
        <p14:creationId xmlns:p14="http://schemas.microsoft.com/office/powerpoint/2010/main" val="2801107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3A2D287-CFE8-45F7-B578-1940EAB6BD47}" type="slidenum">
              <a:rPr lang="en-IN" smtClean="0"/>
              <a:t>3</a:t>
            </a:fld>
            <a:endParaRPr lang="en-IN"/>
          </a:p>
        </p:txBody>
      </p:sp>
    </p:spTree>
    <p:extLst>
      <p:ext uri="{BB962C8B-B14F-4D97-AF65-F5344CB8AC3E}">
        <p14:creationId xmlns:p14="http://schemas.microsoft.com/office/powerpoint/2010/main" val="2096414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D8E5E-745C-407D-B425-C78EBF08DF96}"/>
              </a:ext>
            </a:extLst>
          </p:cNvPr>
          <p:cNvSpPr>
            <a:spLocks noGrp="1"/>
          </p:cNvSpPr>
          <p:nvPr>
            <p:ph type="ctrTitle"/>
          </p:nvPr>
        </p:nvSpPr>
        <p:spPr>
          <a:xfrm>
            <a:off x="571501" y="822960"/>
            <a:ext cx="6057899" cy="5015169"/>
          </a:xfrm>
        </p:spPr>
        <p:txBody>
          <a:bodyPr anchor="t">
            <a:normAutofit/>
          </a:bodyPr>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FD07A4D5-56F4-4287-B174-56C55B18FD68}"/>
              </a:ext>
            </a:extLst>
          </p:cNvPr>
          <p:cNvSpPr>
            <a:spLocks noGrp="1"/>
          </p:cNvSpPr>
          <p:nvPr>
            <p:ph type="subTitle" idx="1"/>
          </p:nvPr>
        </p:nvSpPr>
        <p:spPr>
          <a:xfrm>
            <a:off x="8109113" y="3003642"/>
            <a:ext cx="3522199" cy="2900274"/>
          </a:xfrm>
        </p:spPr>
        <p:txBody>
          <a:bodyPr anchor="b">
            <a:normAutofit/>
          </a:bodyPr>
          <a:lstStyle>
            <a:lvl1pPr marL="0" indent="0" algn="l">
              <a:lnSpc>
                <a:spcPct val="130000"/>
              </a:lnSpc>
              <a:buNone/>
              <a:defRPr sz="1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AEB9C19-FEE0-4852-B181-14A0DD77F40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1127DDF-01B7-463C-82BC-BBF429618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2056A-C3EE-4809-B1F3-1CEEEA266F7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9" name="Straight Connector 8">
            <a:extLst>
              <a:ext uri="{FF2B5EF4-FFF2-40B4-BE49-F238E27FC236}">
                <a16:creationId xmlns:a16="http://schemas.microsoft.com/office/drawing/2014/main" id="{A240FCEE-B6E2-46D0-9BB0-F45F79545E9D}"/>
              </a:ext>
            </a:extLst>
          </p:cNvPr>
          <p:cNvCxnSpPr>
            <a:cxnSpLocks/>
          </p:cNvCxnSpPr>
          <p:nvPr/>
        </p:nvCxnSpPr>
        <p:spPr>
          <a:xfrm flipH="1">
            <a:off x="571501"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2FB83-3783-4477-80B5-DA5BF10BAF57}"/>
              </a:ext>
            </a:extLst>
          </p:cNvPr>
          <p:cNvCxnSpPr>
            <a:cxnSpLocks/>
          </p:cNvCxnSpPr>
          <p:nvPr/>
        </p:nvCxnSpPr>
        <p:spPr>
          <a:xfrm>
            <a:off x="7742482"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83EA203-71D5-49C0-9626-FFA8E46787B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214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2ED8-7F53-4C03-A740-493E507984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611087-99A9-4100-B5F7-520880DE322E}"/>
              </a:ext>
            </a:extLst>
          </p:cNvPr>
          <p:cNvSpPr>
            <a:spLocks noGrp="1"/>
          </p:cNvSpPr>
          <p:nvPr>
            <p:ph idx="1"/>
          </p:nvPr>
        </p:nvSpPr>
        <p:spPr>
          <a:xfrm>
            <a:off x="571499" y="2075688"/>
            <a:ext cx="11059811" cy="3910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7B4B20-1A65-4A26-B11E-6095083A164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B0D52D3-E985-4FEB-89B9-57C754711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A751A-C72D-47C1-A7A6-E8510A40CE9A}"/>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962609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1F78-07BF-45A9-92D4-E4E0A1E88D7A}"/>
              </a:ext>
            </a:extLst>
          </p:cNvPr>
          <p:cNvSpPr>
            <a:spLocks noGrp="1"/>
          </p:cNvSpPr>
          <p:nvPr>
            <p:ph type="title"/>
          </p:nvPr>
        </p:nvSpPr>
        <p:spPr>
          <a:xfrm>
            <a:off x="571500" y="914255"/>
            <a:ext cx="6867115" cy="5009471"/>
          </a:xfrm>
        </p:spPr>
        <p:txBody>
          <a:bodyPr anchor="b">
            <a:normAutofit/>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CC2A83-A380-4828-BC68-C065C8BC5AD5}"/>
              </a:ext>
            </a:extLst>
          </p:cNvPr>
          <p:cNvSpPr>
            <a:spLocks noGrp="1"/>
          </p:cNvSpPr>
          <p:nvPr>
            <p:ph type="body" idx="1"/>
          </p:nvPr>
        </p:nvSpPr>
        <p:spPr>
          <a:xfrm>
            <a:off x="9239817" y="914399"/>
            <a:ext cx="2370268" cy="2670273"/>
          </a:xfrm>
        </p:spPr>
        <p:txBody>
          <a:bodyPr anchor="t">
            <a:normAutofit/>
          </a:bodyPr>
          <a:lstStyle>
            <a:lvl1pPr marL="0" indent="0">
              <a:lnSpc>
                <a:spcPct val="130000"/>
              </a:lnSpc>
              <a:buNone/>
              <a:defRPr sz="14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F92B2F-8804-4195-A779-F5C67C25CBB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5099C26-4411-4833-A917-A45E62D56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8C7C7-F862-434D-A87A-DECE9FD2E1E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A40BAA4B-C4C0-40C1-8DC8-B4E2F8A68E12}"/>
              </a:ext>
            </a:extLst>
          </p:cNvPr>
          <p:cNvCxnSpPr>
            <a:cxnSpLocks/>
          </p:cNvCxnSpPr>
          <p:nvPr/>
        </p:nvCxnSpPr>
        <p:spPr>
          <a:xfrm>
            <a:off x="8872625"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0A2259-2540-4B32-A999-2B46A6790E3D}"/>
              </a:ext>
            </a:extLst>
          </p:cNvPr>
          <p:cNvCxnSpPr>
            <a:cxnSpLocks/>
          </p:cNvCxnSpPr>
          <p:nvPr/>
        </p:nvCxnSpPr>
        <p:spPr>
          <a:xfrm flipH="1">
            <a:off x="566094"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EFB0ED-3F76-4403-AD0B-E738DD9D8CB6}"/>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208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BD5F-CF53-4DD5-B8C5-27BBA2BB8860}"/>
              </a:ext>
            </a:extLst>
          </p:cNvPr>
          <p:cNvSpPr>
            <a:spLocks noGrp="1"/>
          </p:cNvSpPr>
          <p:nvPr>
            <p:ph type="title"/>
          </p:nvPr>
        </p:nvSpPr>
        <p:spPr>
          <a:xfrm>
            <a:off x="571500" y="709684"/>
            <a:ext cx="11049000" cy="1057160"/>
          </a:xfrm>
        </p:spPr>
        <p:txBody>
          <a:bodyPr anchor="ctr"/>
          <a:lstStyle/>
          <a:p>
            <a:r>
              <a:rPr lang="en-US"/>
              <a:t>Click to edit Master title style</a:t>
            </a:r>
          </a:p>
        </p:txBody>
      </p:sp>
      <p:sp>
        <p:nvSpPr>
          <p:cNvPr id="3" name="Content Placeholder 2">
            <a:extLst>
              <a:ext uri="{FF2B5EF4-FFF2-40B4-BE49-F238E27FC236}">
                <a16:creationId xmlns:a16="http://schemas.microsoft.com/office/drawing/2014/main" id="{3576C2E1-5D5E-409F-BEE8-F48CE86F55C9}"/>
              </a:ext>
            </a:extLst>
          </p:cNvPr>
          <p:cNvSpPr>
            <a:spLocks noGrp="1"/>
          </p:cNvSpPr>
          <p:nvPr>
            <p:ph sz="half" idx="1"/>
          </p:nvPr>
        </p:nvSpPr>
        <p:spPr>
          <a:xfrm>
            <a:off x="579447"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BBF823-1BFB-4CF0-BAF4-D660C8F1AFC0}"/>
              </a:ext>
            </a:extLst>
          </p:cNvPr>
          <p:cNvSpPr>
            <a:spLocks noGrp="1"/>
          </p:cNvSpPr>
          <p:nvPr>
            <p:ph sz="half" idx="2"/>
          </p:nvPr>
        </p:nvSpPr>
        <p:spPr>
          <a:xfrm>
            <a:off x="6447082"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FF816E-EE02-44A4-8B81-B324ECFD74D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134D9E4-A693-44D2-A3E8-E3AABC905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F669F-4B8E-415D-A9BF-AD451F452C6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720AF959-FCDC-4B92-9324-06A06C0D56F2}"/>
              </a:ext>
            </a:extLst>
          </p:cNvPr>
          <p:cNvCxnSpPr>
            <a:cxnSpLocks/>
          </p:cNvCxnSpPr>
          <p:nvPr/>
        </p:nvCxnSpPr>
        <p:spPr>
          <a:xfrm flipV="1">
            <a:off x="6101405" y="1883336"/>
            <a:ext cx="0" cy="43996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0007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F85E5-82C4-4BAE-B2B0-A078ABD6C69C}"/>
              </a:ext>
            </a:extLst>
          </p:cNvPr>
          <p:cNvSpPr>
            <a:spLocks noGrp="1"/>
          </p:cNvSpPr>
          <p:nvPr>
            <p:ph type="title"/>
          </p:nvPr>
        </p:nvSpPr>
        <p:spPr>
          <a:xfrm>
            <a:off x="583469" y="699118"/>
            <a:ext cx="11025062" cy="1063601"/>
          </a:xfrm>
        </p:spPr>
        <p:txBody>
          <a:bodyPr anchor="ctr"/>
          <a:lstStyle/>
          <a:p>
            <a:r>
              <a:rPr lang="en-US"/>
              <a:t>Click to edit Master title style</a:t>
            </a:r>
          </a:p>
        </p:txBody>
      </p:sp>
      <p:sp>
        <p:nvSpPr>
          <p:cNvPr id="3" name="Text Placeholder 2">
            <a:extLst>
              <a:ext uri="{FF2B5EF4-FFF2-40B4-BE49-F238E27FC236}">
                <a16:creationId xmlns:a16="http://schemas.microsoft.com/office/drawing/2014/main" id="{012D15C7-F445-40F7-88F6-FD6526269CD7}"/>
              </a:ext>
            </a:extLst>
          </p:cNvPr>
          <p:cNvSpPr>
            <a:spLocks noGrp="1"/>
          </p:cNvSpPr>
          <p:nvPr>
            <p:ph type="body" idx="1"/>
          </p:nvPr>
        </p:nvSpPr>
        <p:spPr>
          <a:xfrm>
            <a:off x="583468" y="2022883"/>
            <a:ext cx="5230469" cy="564079"/>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52C35-AA8E-4154-8A78-7DE9590E1F38}"/>
              </a:ext>
            </a:extLst>
          </p:cNvPr>
          <p:cNvSpPr>
            <a:spLocks noGrp="1"/>
          </p:cNvSpPr>
          <p:nvPr>
            <p:ph sz="half" idx="2"/>
          </p:nvPr>
        </p:nvSpPr>
        <p:spPr>
          <a:xfrm>
            <a:off x="583469" y="2866031"/>
            <a:ext cx="5157787"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557EAC6-567C-4A4A-BB10-57EC14B97DDF}"/>
              </a:ext>
            </a:extLst>
          </p:cNvPr>
          <p:cNvSpPr>
            <a:spLocks noGrp="1"/>
          </p:cNvSpPr>
          <p:nvPr>
            <p:ph type="body" sz="quarter" idx="3"/>
          </p:nvPr>
        </p:nvSpPr>
        <p:spPr>
          <a:xfrm>
            <a:off x="6441470" y="2022883"/>
            <a:ext cx="5183188" cy="564080"/>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A083F-AD60-4437-B32A-44035D78AF63}"/>
              </a:ext>
            </a:extLst>
          </p:cNvPr>
          <p:cNvSpPr>
            <a:spLocks noGrp="1"/>
          </p:cNvSpPr>
          <p:nvPr>
            <p:ph sz="quarter" idx="4"/>
          </p:nvPr>
        </p:nvSpPr>
        <p:spPr>
          <a:xfrm>
            <a:off x="6441470" y="2866031"/>
            <a:ext cx="5183188"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DBF86F-3266-4551-B680-06F401FFE665}"/>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755B38FE-80F9-4582-B2E1-B067C288DE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7BEF32-F637-47A1-9ED3-AFC4F79F373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E0C508D4-7C99-4B8D-BCDE-F0001BD345D9}"/>
              </a:ext>
            </a:extLst>
          </p:cNvPr>
          <p:cNvCxnSpPr>
            <a:cxnSpLocks/>
          </p:cNvCxnSpPr>
          <p:nvPr/>
        </p:nvCxnSpPr>
        <p:spPr>
          <a:xfrm flipV="1">
            <a:off x="6101405" y="1883336"/>
            <a:ext cx="0" cy="4399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9BF61B-7951-48F4-982B-9401A483FFBF}"/>
              </a:ext>
            </a:extLst>
          </p:cNvPr>
          <p:cNvCxnSpPr>
            <a:cxnSpLocks/>
          </p:cNvCxnSpPr>
          <p:nvPr/>
        </p:nvCxnSpPr>
        <p:spPr>
          <a:xfrm flipH="1">
            <a:off x="577485" y="273859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2563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94CB-6BE5-4B9E-B0A6-54F83B201A64}"/>
              </a:ext>
            </a:extLst>
          </p:cNvPr>
          <p:cNvSpPr>
            <a:spLocks noGrp="1"/>
          </p:cNvSpPr>
          <p:nvPr>
            <p:ph type="title"/>
          </p:nvPr>
        </p:nvSpPr>
        <p:spPr>
          <a:xfrm>
            <a:off x="571500" y="717452"/>
            <a:ext cx="11049000" cy="1161836"/>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75E8643C-1A5D-4F23-B0D7-5B46F5E456B4}"/>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0C1A3394-78CC-43B0-9762-5E826F8BBF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347F0A-1980-4E13-AB22-AE3B8AA4405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4E9D858B-8A9C-4235-B151-81C99A3D20D2}"/>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6C7798B-3ECB-4076-8955-A82116BB0D2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883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61D85-3E72-406F-AB26-B4ED94918442}"/>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99C831E-4321-467E-9090-C89C48CF2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8A9556-B3D8-4403-835F-11AE2D4098E9}"/>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3579863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0AA48-D521-423D-B185-6490EF57B935}"/>
              </a:ext>
            </a:extLst>
          </p:cNvPr>
          <p:cNvSpPr>
            <a:spLocks noGrp="1"/>
          </p:cNvSpPr>
          <p:nvPr>
            <p:ph type="title"/>
          </p:nvPr>
        </p:nvSpPr>
        <p:spPr>
          <a:xfrm>
            <a:off x="572201" y="810344"/>
            <a:ext cx="3478084" cy="1408062"/>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64E6DD-DDD2-4ED6-B8A9-A8B6D7656549}"/>
              </a:ext>
            </a:extLst>
          </p:cNvPr>
          <p:cNvSpPr>
            <a:spLocks noGrp="1"/>
          </p:cNvSpPr>
          <p:nvPr>
            <p:ph idx="1"/>
          </p:nvPr>
        </p:nvSpPr>
        <p:spPr>
          <a:xfrm>
            <a:off x="4919809" y="931232"/>
            <a:ext cx="6700679" cy="50793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F08F5E-AD33-4ACF-84C9-78B0FF6BE3AC}"/>
              </a:ext>
            </a:extLst>
          </p:cNvPr>
          <p:cNvSpPr>
            <a:spLocks noGrp="1"/>
          </p:cNvSpPr>
          <p:nvPr>
            <p:ph type="body" sz="half" idx="2"/>
          </p:nvPr>
        </p:nvSpPr>
        <p:spPr>
          <a:xfrm>
            <a:off x="571500" y="2578608"/>
            <a:ext cx="3478783" cy="34172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D7604E-7DD4-4497-B325-74F899E8ACC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F02BEED-A8F6-4256-9539-4434694AA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A1AA6-EE0B-48FD-A7DE-6CEE6A8C7DE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B3F35B32-9A23-4805-94A6-96826D202139}"/>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62BA7DA-3944-40D4-91CD-40CA24DBB79B}"/>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BEA0B78-39E7-4039-B8BE-4F425688C6DF}"/>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D68B99C-0744-42EE-9713-AB0CEC3F5D8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6456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12732-5D39-4B30-A499-D51BABC882EF}"/>
              </a:ext>
            </a:extLst>
          </p:cNvPr>
          <p:cNvSpPr>
            <a:spLocks noGrp="1"/>
          </p:cNvSpPr>
          <p:nvPr>
            <p:ph type="title"/>
          </p:nvPr>
        </p:nvSpPr>
        <p:spPr>
          <a:xfrm>
            <a:off x="571499" y="802204"/>
            <a:ext cx="3478787" cy="1408062"/>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AF5AEC-77BC-4A52-8A56-C6479CA6A29D}"/>
              </a:ext>
            </a:extLst>
          </p:cNvPr>
          <p:cNvSpPr>
            <a:spLocks noGrp="1"/>
          </p:cNvSpPr>
          <p:nvPr>
            <p:ph type="pic" idx="1"/>
          </p:nvPr>
        </p:nvSpPr>
        <p:spPr>
          <a:xfrm>
            <a:off x="4723467" y="847384"/>
            <a:ext cx="6907844" cy="52168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0A9240-8762-4C7D-AF22-A844CB2EC871}"/>
              </a:ext>
            </a:extLst>
          </p:cNvPr>
          <p:cNvSpPr>
            <a:spLocks noGrp="1"/>
          </p:cNvSpPr>
          <p:nvPr>
            <p:ph type="body" sz="half" idx="2"/>
          </p:nvPr>
        </p:nvSpPr>
        <p:spPr>
          <a:xfrm>
            <a:off x="571498" y="2574906"/>
            <a:ext cx="3478787" cy="343571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95685-E45D-4E74-8B78-D3B8E85C434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21FCBA3-0FF5-47C2-901A-645F6185D2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030381-5320-46AD-A0B9-7C04B3E5A202}"/>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5357A432-D933-402A-8657-216EE20450EE}"/>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B1E0F3-D71B-436F-A10B-B6EA7125F684}"/>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DEE64F5-2B48-4A2E-BA5E-1D37F1A7C9A3}"/>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9BF9AA-A2C8-4233-B597-EB11C6D6A0E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363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9A0A-70FC-426A-8B3B-60FAF9806E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F47EC6-9753-4ABC-BB66-64CCC8BA0808}"/>
              </a:ext>
            </a:extLst>
          </p:cNvPr>
          <p:cNvSpPr>
            <a:spLocks noGrp="1"/>
          </p:cNvSpPr>
          <p:nvPr>
            <p:ph type="body" orient="vert" idx="1"/>
          </p:nvPr>
        </p:nvSpPr>
        <p:spPr>
          <a:xfrm>
            <a:off x="571499" y="2036363"/>
            <a:ext cx="11059811" cy="38707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884D9F-DC99-4B4C-98CF-178BBBB7664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A7A6840-AC0B-4260-8368-08E0A22D2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A5DAB8-EC07-4CCF-96EA-5D8ACDAE6E4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0438F1AC-9961-4786-A189-20863DD97F68}"/>
              </a:ext>
            </a:extLst>
          </p:cNvPr>
          <p:cNvCxnSpPr>
            <a:cxnSpLocks/>
          </p:cNvCxnSpPr>
          <p:nvPr/>
        </p:nvCxnSpPr>
        <p:spPr>
          <a:xfrm flipH="1">
            <a:off x="571500" y="1780979"/>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0290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5F678-EC03-4845-A51B-C90FA6A15491}"/>
              </a:ext>
            </a:extLst>
          </p:cNvPr>
          <p:cNvSpPr>
            <a:spLocks noGrp="1"/>
          </p:cNvSpPr>
          <p:nvPr>
            <p:ph type="title" orient="vert"/>
          </p:nvPr>
        </p:nvSpPr>
        <p:spPr>
          <a:xfrm>
            <a:off x="9177953" y="797251"/>
            <a:ext cx="2483929" cy="528378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4A8B4D-A39F-4528-975A-9C84BEE778DF}"/>
              </a:ext>
            </a:extLst>
          </p:cNvPr>
          <p:cNvSpPr>
            <a:spLocks noGrp="1"/>
          </p:cNvSpPr>
          <p:nvPr>
            <p:ph type="body" orient="vert" idx="1"/>
          </p:nvPr>
        </p:nvSpPr>
        <p:spPr>
          <a:xfrm>
            <a:off x="566094" y="797251"/>
            <a:ext cx="8101072" cy="52837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5E4A23-6984-4AD1-A51D-600EDC26354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273E28-C341-49CC-BAAB-0C0D19821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6D54A-8E86-4026-8DD0-5B0979BB8C7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1CB05DA4-DF32-4D7A-9E4D-36309C90C5BB}"/>
              </a:ext>
            </a:extLst>
          </p:cNvPr>
          <p:cNvCxnSpPr>
            <a:cxnSpLocks/>
          </p:cNvCxnSpPr>
          <p:nvPr/>
        </p:nvCxnSpPr>
        <p:spPr>
          <a:xfrm flipH="1">
            <a:off x="566094" y="57711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7CC7262-4997-41E4-976D-BA82E148280F}"/>
              </a:ext>
            </a:extLst>
          </p:cNvPr>
          <p:cNvCxnSpPr>
            <a:cxnSpLocks/>
          </p:cNvCxnSpPr>
          <p:nvPr/>
        </p:nvCxnSpPr>
        <p:spPr>
          <a:xfrm flipV="1">
            <a:off x="8875226" y="571500"/>
            <a:ext cx="0" cy="5711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F5063B5-E478-4C41-AD40-49A39AE07429}"/>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9454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5175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571499" y="1137256"/>
            <a:ext cx="11209376"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571499" y="348662"/>
            <a:ext cx="11209376" cy="464000"/>
          </a:xfrm>
        </p:spPr>
        <p:txBody>
          <a:bodyPr>
            <a:noAutofit/>
          </a:bodyPr>
          <a:lstStyle>
            <a:lvl1pPr>
              <a:defRPr sz="3200" b="0">
                <a:solidFill>
                  <a:srgbClr val="A4123F"/>
                </a:solidFill>
                <a:latin typeface="Georgia" panose="02040502050405020303" pitchFamily="18" charset="0"/>
              </a:defRPr>
            </a:lvl1pPr>
          </a:lstStyle>
          <a:p>
            <a:r>
              <a:rPr lang="en-US"/>
              <a:t>Click Here To Edit Title</a:t>
            </a:r>
            <a:endParaRPr lang="en-IN"/>
          </a:p>
        </p:txBody>
      </p:sp>
      <p:pic>
        <p:nvPicPr>
          <p:cNvPr id="8" name="Picture 7">
            <a:extLst>
              <a:ext uri="{FF2B5EF4-FFF2-40B4-BE49-F238E27FC236}">
                <a16:creationId xmlns:a16="http://schemas.microsoft.com/office/drawing/2014/main" id="{140DA784-0993-4F43-BA98-733CB6486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489" y="6369932"/>
            <a:ext cx="12218977" cy="521007"/>
          </a:xfrm>
          <a:prstGeom prst="rect">
            <a:avLst/>
          </a:prstGeom>
        </p:spPr>
      </p:pic>
      <p:pic>
        <p:nvPicPr>
          <p:cNvPr id="6" name="Picture 5">
            <a:extLst>
              <a:ext uri="{FF2B5EF4-FFF2-40B4-BE49-F238E27FC236}">
                <a16:creationId xmlns:a16="http://schemas.microsoft.com/office/drawing/2014/main" id="{D5D41DD4-A5E8-4552-814D-0D80AF0F22E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26134" y="6490361"/>
            <a:ext cx="1781941" cy="314840"/>
          </a:xfrm>
          <a:prstGeom prst="rect">
            <a:avLst/>
          </a:prstGeom>
        </p:spPr>
      </p:pic>
    </p:spTree>
    <p:extLst>
      <p:ext uri="{BB962C8B-B14F-4D97-AF65-F5344CB8AC3E}">
        <p14:creationId xmlns:p14="http://schemas.microsoft.com/office/powerpoint/2010/main" val="3875291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33832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40DA784-0993-4F43-BA98-733CB6486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353456"/>
            <a:ext cx="12218977" cy="521007"/>
          </a:xfrm>
          <a:prstGeom prst="rect">
            <a:avLst/>
          </a:prstGeom>
        </p:spPr>
      </p:pic>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571499" y="1137256"/>
            <a:ext cx="11209376"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571499" y="348662"/>
            <a:ext cx="11209376" cy="464000"/>
          </a:xfrm>
        </p:spPr>
        <p:txBody>
          <a:bodyPr>
            <a:noAutofit/>
          </a:bodyPr>
          <a:lstStyle>
            <a:lvl1pPr>
              <a:defRPr sz="3200" b="0">
                <a:solidFill>
                  <a:srgbClr val="A4123F"/>
                </a:solidFill>
                <a:latin typeface="Georgia" panose="02040502050405020303" pitchFamily="18" charset="0"/>
              </a:defRPr>
            </a:lvl1pPr>
          </a:lstStyle>
          <a:p>
            <a:r>
              <a:rPr lang="en-US"/>
              <a:t>Click Here To Edit Title</a:t>
            </a:r>
            <a:endParaRPr lang="en-IN"/>
          </a:p>
        </p:txBody>
      </p:sp>
      <p:pic>
        <p:nvPicPr>
          <p:cNvPr id="6" name="Picture 5">
            <a:extLst>
              <a:ext uri="{FF2B5EF4-FFF2-40B4-BE49-F238E27FC236}">
                <a16:creationId xmlns:a16="http://schemas.microsoft.com/office/drawing/2014/main" id="{D5D41DD4-A5E8-4552-814D-0D80AF0F22E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26134" y="6490361"/>
            <a:ext cx="1781941" cy="314840"/>
          </a:xfrm>
          <a:prstGeom prst="rect">
            <a:avLst/>
          </a:prstGeom>
        </p:spPr>
      </p:pic>
      <p:sp>
        <p:nvSpPr>
          <p:cNvPr id="4" name="Slide Number Placeholder 6">
            <a:extLst>
              <a:ext uri="{FF2B5EF4-FFF2-40B4-BE49-F238E27FC236}">
                <a16:creationId xmlns:a16="http://schemas.microsoft.com/office/drawing/2014/main" id="{44B71D63-CC8F-7D5C-C54F-0439C001EC47}"/>
              </a:ext>
            </a:extLst>
          </p:cNvPr>
          <p:cNvSpPr>
            <a:spLocks noGrp="1"/>
          </p:cNvSpPr>
          <p:nvPr>
            <p:ph type="sldNum" sz="quarter" idx="12"/>
          </p:nvPr>
        </p:nvSpPr>
        <p:spPr>
          <a:xfrm>
            <a:off x="0" y="6525814"/>
            <a:ext cx="571499" cy="365125"/>
          </a:xfrm>
        </p:spPr>
        <p:txBody>
          <a:bodyPr/>
          <a:lstStyle>
            <a:lvl1pPr algn="l">
              <a:defRPr sz="1600" b="1">
                <a:solidFill>
                  <a:schemeClr val="bg1"/>
                </a:solidFill>
              </a:defRPr>
            </a:lvl1pPr>
          </a:lstStyle>
          <a:p>
            <a:fld id="{330EA680-D336-4FF7-8B7A-9848BB0A1C32}" type="slidenum">
              <a:rPr lang="en-US" smtClean="0"/>
              <a:pPr/>
              <a:t>‹#›</a:t>
            </a:fld>
            <a:endParaRPr lang="en-US"/>
          </a:p>
        </p:txBody>
      </p:sp>
      <p:sp>
        <p:nvSpPr>
          <p:cNvPr id="2" name="Slide Number Placeholder 6">
            <a:extLst>
              <a:ext uri="{FF2B5EF4-FFF2-40B4-BE49-F238E27FC236}">
                <a16:creationId xmlns:a16="http://schemas.microsoft.com/office/drawing/2014/main" id="{03E60720-4643-2A6C-4283-9BD3505F1DFE}"/>
              </a:ext>
            </a:extLst>
          </p:cNvPr>
          <p:cNvSpPr txBox="1">
            <a:spLocks/>
          </p:cNvSpPr>
          <p:nvPr userDrawn="1"/>
        </p:nvSpPr>
        <p:spPr>
          <a:xfrm>
            <a:off x="401263" y="6525813"/>
            <a:ext cx="1587335" cy="365125"/>
          </a:xfrm>
          <a:prstGeom prst="rect">
            <a:avLst/>
          </a:prstGeom>
        </p:spPr>
        <p:txBody>
          <a:bodyPr vert="horz" lIns="91440" tIns="45720" rIns="91440" bIns="45720" rtlCol="0" anchor="ctr"/>
          <a:lstStyle>
            <a:defPPr>
              <a:defRPr lang="en-US"/>
            </a:defPPr>
            <a:lvl1pPr marL="0" algn="l" defTabSz="914400" rtl="0" eaLnBrk="1" latinLnBrk="0" hangingPunct="1">
              <a:defRPr sz="16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3226262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1467D-9ED1-4211-A71E-41C91C755C9D}"/>
              </a:ext>
            </a:extLst>
          </p:cNvPr>
          <p:cNvSpPr>
            <a:spLocks noGrp="1"/>
          </p:cNvSpPr>
          <p:nvPr>
            <p:ph type="title"/>
          </p:nvPr>
        </p:nvSpPr>
        <p:spPr>
          <a:xfrm>
            <a:off x="571500" y="689289"/>
            <a:ext cx="11049000" cy="108410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F8A6A1-C9C7-4FDF-B4DA-1E86B6A355F8}"/>
              </a:ext>
            </a:extLst>
          </p:cNvPr>
          <p:cNvSpPr>
            <a:spLocks noGrp="1"/>
          </p:cNvSpPr>
          <p:nvPr>
            <p:ph type="body" idx="1"/>
          </p:nvPr>
        </p:nvSpPr>
        <p:spPr>
          <a:xfrm>
            <a:off x="571499" y="2075688"/>
            <a:ext cx="11059811" cy="38180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ACC44A-C635-4CD0-90E9-D9503AF4CCF2}"/>
              </a:ext>
            </a:extLst>
          </p:cNvPr>
          <p:cNvSpPr>
            <a:spLocks noGrp="1"/>
          </p:cNvSpPr>
          <p:nvPr>
            <p:ph type="dt" sz="half" idx="2"/>
          </p:nvPr>
        </p:nvSpPr>
        <p:spPr>
          <a:xfrm>
            <a:off x="8036732" y="6397103"/>
            <a:ext cx="3091928" cy="365125"/>
          </a:xfrm>
          <a:prstGeom prst="rect">
            <a:avLst/>
          </a:prstGeom>
        </p:spPr>
        <p:txBody>
          <a:bodyPr vert="horz" lIns="91440" tIns="45720" rIns="91440" bIns="45720" rtlCol="0" anchor="ctr"/>
          <a:lstStyle>
            <a:lvl1pPr algn="r">
              <a:defRPr sz="800" cap="all" spc="200" baseline="0">
                <a:solidFill>
                  <a:schemeClr val="tx1"/>
                </a:solidFill>
              </a:defRPr>
            </a:lvl1pPr>
          </a:lstStyle>
          <a:p>
            <a:endParaRPr lang="en-US"/>
          </a:p>
        </p:txBody>
      </p:sp>
      <p:sp>
        <p:nvSpPr>
          <p:cNvPr id="5" name="Footer Placeholder 4">
            <a:extLst>
              <a:ext uri="{FF2B5EF4-FFF2-40B4-BE49-F238E27FC236}">
                <a16:creationId xmlns:a16="http://schemas.microsoft.com/office/drawing/2014/main" id="{58ABF682-1A47-492C-81E3-9DB0A50ECB1F}"/>
              </a:ext>
            </a:extLst>
          </p:cNvPr>
          <p:cNvSpPr>
            <a:spLocks noGrp="1"/>
          </p:cNvSpPr>
          <p:nvPr>
            <p:ph type="ftr" sz="quarter" idx="3"/>
          </p:nvPr>
        </p:nvSpPr>
        <p:spPr>
          <a:xfrm>
            <a:off x="475782" y="6397103"/>
            <a:ext cx="4114800" cy="365125"/>
          </a:xfrm>
          <a:prstGeom prst="rect">
            <a:avLst/>
          </a:prstGeom>
        </p:spPr>
        <p:txBody>
          <a:bodyPr vert="horz" lIns="91440" tIns="45720" rIns="91440" bIns="45720" rtlCol="0" anchor="ctr"/>
          <a:lstStyle>
            <a:lvl1pPr algn="l">
              <a:defRPr sz="800" cap="all" spc="2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CCC814B-9105-44ED-98A9-D326B2E2605C}"/>
              </a:ext>
            </a:extLst>
          </p:cNvPr>
          <p:cNvSpPr>
            <a:spLocks noGrp="1"/>
          </p:cNvSpPr>
          <p:nvPr>
            <p:ph type="sldNum" sz="quarter" idx="4"/>
          </p:nvPr>
        </p:nvSpPr>
        <p:spPr>
          <a:xfrm>
            <a:off x="11024553" y="6397103"/>
            <a:ext cx="700775" cy="365125"/>
          </a:xfrm>
          <a:prstGeom prst="rect">
            <a:avLst/>
          </a:prstGeom>
        </p:spPr>
        <p:txBody>
          <a:bodyPr vert="horz" lIns="91440" tIns="45720" rIns="91440" bIns="45720" rtlCol="0" anchor="ctr"/>
          <a:lstStyle>
            <a:lvl1pPr algn="r">
              <a:defRPr sz="800">
                <a:solidFill>
                  <a:schemeClr val="tx1"/>
                </a:solidFill>
              </a:defRPr>
            </a:lvl1pPr>
          </a:lstStyle>
          <a:p>
            <a:fld id="{5EEB83C2-341F-4C28-A243-1C56DDDA54D3}" type="slidenum">
              <a:rPr lang="en-US" smtClean="0"/>
              <a:t>‹#›</a:t>
            </a:fld>
            <a:endParaRPr lang="en-US"/>
          </a:p>
        </p:txBody>
      </p:sp>
      <p:cxnSp>
        <p:nvCxnSpPr>
          <p:cNvPr id="20" name="Straight Connector 19">
            <a:extLst>
              <a:ext uri="{FF2B5EF4-FFF2-40B4-BE49-F238E27FC236}">
                <a16:creationId xmlns:a16="http://schemas.microsoft.com/office/drawing/2014/main" id="{A6814345-41DE-42C5-8657-66C1417DF81A}"/>
              </a:ext>
            </a:extLst>
          </p:cNvPr>
          <p:cNvCxnSpPr>
            <a:cxnSpLocks/>
          </p:cNvCxnSpPr>
          <p:nvPr/>
        </p:nvCxnSpPr>
        <p:spPr>
          <a:xfrm flipH="1">
            <a:off x="566094" y="6286347"/>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E68E419-3727-4F5E-8840-AF149B33B0B7}"/>
              </a:ext>
            </a:extLst>
          </p:cNvPr>
          <p:cNvCxnSpPr>
            <a:cxnSpLocks/>
          </p:cNvCxnSpPr>
          <p:nvPr/>
        </p:nvCxnSpPr>
        <p:spPr>
          <a:xfrm flipH="1">
            <a:off x="577485" y="1883336"/>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19B6EC-D7AE-452F-8D0C-D11BD3377F3E}"/>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067970"/>
      </p:ext>
    </p:extLst>
  </p:cSld>
  <p:clrMap bg1="lt1" tx1="dk1" bg2="lt2" tx2="dk2" accent1="accent1" accent2="accent2" accent3="accent3" accent4="accent4" accent5="accent5" accent6="accent6" hlink="hlink" folHlink="folHlink"/>
  <p:sldLayoutIdLst>
    <p:sldLayoutId id="2147483687"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p:txStyles>
    <p:title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SzPct val="8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SzPct val="80000"/>
        <a:buFont typeface="Avenir Next LT Pro Light" panose="020B03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2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6.xml"/><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6.xml"/><Relationship Id="rId5" Type="http://schemas.openxmlformats.org/officeDocument/2006/relationships/image" Target="../media/image13.jpeg"/><Relationship Id="rId4" Type="http://schemas.openxmlformats.org/officeDocument/2006/relationships/image" Target="../media/image12.jpeg"/></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6.xml"/><Relationship Id="rId5" Type="http://schemas.openxmlformats.org/officeDocument/2006/relationships/image" Target="../media/image17.jpeg"/><Relationship Id="rId4" Type="http://schemas.openxmlformats.org/officeDocument/2006/relationships/image" Target="../media/image16.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DC7025E-4863-6F49-AD01-8A5B65B0890F}"/>
              </a:ext>
            </a:extLst>
          </p:cNvPr>
          <p:cNvSpPr/>
          <p:nvPr/>
        </p:nvSpPr>
        <p:spPr>
          <a:xfrm>
            <a:off x="0" y="0"/>
            <a:ext cx="12191999" cy="6858000"/>
          </a:xfrm>
          <a:prstGeom prst="rect">
            <a:avLst/>
          </a:prstGeom>
          <a:solidFill>
            <a:srgbClr val="B81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1350">
                <a:solidFill>
                  <a:prstClr val="white"/>
                </a:solidFill>
                <a:latin typeface="Calibri" panose="020F0502020204030204"/>
              </a:rPr>
              <a:t> </a:t>
            </a:r>
          </a:p>
        </p:txBody>
      </p:sp>
      <p:pic>
        <p:nvPicPr>
          <p:cNvPr id="7" name="Picture 6" descr="A picture containing drawing&#10;&#10;Description automatically generated">
            <a:extLst>
              <a:ext uri="{FF2B5EF4-FFF2-40B4-BE49-F238E27FC236}">
                <a16:creationId xmlns:a16="http://schemas.microsoft.com/office/drawing/2014/main" id="{80288CD4-7B52-C244-BAD4-BFF7D9DCE675}"/>
              </a:ext>
            </a:extLst>
          </p:cNvPr>
          <p:cNvPicPr>
            <a:picLocks noChangeAspect="1"/>
          </p:cNvPicPr>
          <p:nvPr/>
        </p:nvPicPr>
        <p:blipFill>
          <a:blip r:embed="rId2"/>
          <a:stretch>
            <a:fillRect/>
          </a:stretch>
        </p:blipFill>
        <p:spPr>
          <a:xfrm>
            <a:off x="535488" y="2576464"/>
            <a:ext cx="3443174" cy="1104899"/>
          </a:xfrm>
          <a:prstGeom prst="rect">
            <a:avLst/>
          </a:prstGeom>
        </p:spPr>
      </p:pic>
      <p:cxnSp>
        <p:nvCxnSpPr>
          <p:cNvPr id="3" name="Straight Connector 2">
            <a:extLst>
              <a:ext uri="{FF2B5EF4-FFF2-40B4-BE49-F238E27FC236}">
                <a16:creationId xmlns:a16="http://schemas.microsoft.com/office/drawing/2014/main" id="{4BA58083-EF1A-427F-9030-DC289843A2BF}"/>
              </a:ext>
            </a:extLst>
          </p:cNvPr>
          <p:cNvCxnSpPr>
            <a:cxnSpLocks/>
          </p:cNvCxnSpPr>
          <p:nvPr/>
        </p:nvCxnSpPr>
        <p:spPr>
          <a:xfrm>
            <a:off x="4335124" y="2310508"/>
            <a:ext cx="0" cy="1636813"/>
          </a:xfrm>
          <a:prstGeom prst="line">
            <a:avLst/>
          </a:prstGeom>
          <a:ln>
            <a:solidFill>
              <a:srgbClr val="FFC000"/>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4FF19762-9449-7F8E-ED51-CE92E43F0E91}"/>
              </a:ext>
            </a:extLst>
          </p:cNvPr>
          <p:cNvSpPr txBox="1"/>
          <p:nvPr/>
        </p:nvSpPr>
        <p:spPr>
          <a:xfrm>
            <a:off x="4385967" y="469446"/>
            <a:ext cx="7270540" cy="2123658"/>
          </a:xfrm>
          <a:prstGeom prst="rect">
            <a:avLst/>
          </a:prstGeom>
          <a:noFill/>
        </p:spPr>
        <p:txBody>
          <a:bodyPr wrap="square" lIns="91440" tIns="45720" rIns="91440" bIns="45720" rtlCol="0" anchor="t">
            <a:spAutoFit/>
          </a:bodyPr>
          <a:lstStyle/>
          <a:p>
            <a:pPr algn="ctr" defTabSz="457200"/>
            <a:r>
              <a:rPr lang="en-US" sz="4400" b="1" dirty="0">
                <a:solidFill>
                  <a:schemeClr val="bg1"/>
                </a:solidFill>
                <a:latin typeface="Segoe UI"/>
                <a:ea typeface="+mn-lt"/>
                <a:cs typeface="Segoe UI"/>
              </a:rPr>
              <a:t>Analysis of Neural Models for Sandhi Splitting in Ayurvedic Sanskrit Texts</a:t>
            </a:r>
          </a:p>
        </p:txBody>
      </p:sp>
      <p:sp>
        <p:nvSpPr>
          <p:cNvPr id="4" name="TextBox 3">
            <a:extLst>
              <a:ext uri="{FF2B5EF4-FFF2-40B4-BE49-F238E27FC236}">
                <a16:creationId xmlns:a16="http://schemas.microsoft.com/office/drawing/2014/main" id="{9F92AFA7-A803-1602-35C8-C21ED8130634}"/>
              </a:ext>
            </a:extLst>
          </p:cNvPr>
          <p:cNvSpPr txBox="1"/>
          <p:nvPr/>
        </p:nvSpPr>
        <p:spPr>
          <a:xfrm>
            <a:off x="6299194" y="5127351"/>
            <a:ext cx="4386828" cy="923330"/>
          </a:xfrm>
          <a:prstGeom prst="rect">
            <a:avLst/>
          </a:prstGeom>
          <a:noFill/>
        </p:spPr>
        <p:txBody>
          <a:bodyPr wrap="square" lIns="91440" tIns="45720" rIns="91440" bIns="45720" rtlCol="0" anchor="t">
            <a:spAutoFit/>
          </a:bodyPr>
          <a:lstStyle/>
          <a:p>
            <a:pPr algn="just"/>
            <a:r>
              <a:rPr lang="en-US">
                <a:solidFill>
                  <a:schemeClr val="bg1"/>
                </a:solidFill>
                <a:latin typeface="Times New Roman" panose="02020603050405020304" pitchFamily="18" charset="0"/>
                <a:cs typeface="Times New Roman" panose="02020603050405020304" pitchFamily="18" charset="0"/>
              </a:rPr>
              <a:t>Abhiram A S                AM.EN.U4AIE22002</a:t>
            </a:r>
            <a:endParaRPr lang="en-IN">
              <a:solidFill>
                <a:schemeClr val="bg1"/>
              </a:solidFill>
              <a:latin typeface="Times New Roman" panose="02020603050405020304" pitchFamily="18" charset="0"/>
              <a:cs typeface="Times New Roman" panose="02020603050405020304" pitchFamily="18" charset="0"/>
            </a:endParaRPr>
          </a:p>
          <a:p>
            <a:pPr algn="just"/>
            <a:r>
              <a:rPr lang="en-US">
                <a:solidFill>
                  <a:schemeClr val="bg1"/>
                </a:solidFill>
                <a:latin typeface="Times New Roman" panose="02020603050405020304" pitchFamily="18" charset="0"/>
                <a:cs typeface="Times New Roman" panose="02020603050405020304" pitchFamily="18" charset="0"/>
              </a:rPr>
              <a:t>Karthik Narayan C      AM.EN.U4AIE22028</a:t>
            </a:r>
            <a:endParaRPr lang="en-IN">
              <a:solidFill>
                <a:schemeClr val="bg1"/>
              </a:solidFill>
              <a:latin typeface="Times New Roman" panose="02020603050405020304" pitchFamily="18" charset="0"/>
              <a:cs typeface="Times New Roman" panose="02020603050405020304" pitchFamily="18" charset="0"/>
            </a:endParaRPr>
          </a:p>
          <a:p>
            <a:pPr algn="just"/>
            <a:r>
              <a:rPr lang="en-US" err="1">
                <a:solidFill>
                  <a:schemeClr val="bg1"/>
                </a:solidFill>
                <a:latin typeface="Times New Roman" panose="02020603050405020304" pitchFamily="18" charset="0"/>
                <a:cs typeface="Times New Roman" panose="02020603050405020304" pitchFamily="18" charset="0"/>
              </a:rPr>
              <a:t>Harigovind</a:t>
            </a:r>
            <a:r>
              <a:rPr lang="en-US">
                <a:solidFill>
                  <a:schemeClr val="bg1"/>
                </a:solidFill>
                <a:latin typeface="Times New Roman" panose="02020603050405020304" pitchFamily="18" charset="0"/>
                <a:cs typeface="Times New Roman" panose="02020603050405020304" pitchFamily="18" charset="0"/>
              </a:rPr>
              <a:t> C B           AM.EN.U4AIE22119</a:t>
            </a:r>
            <a:endParaRPr lang="en-IN">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7B1EF1F-2300-829E-6E9B-9FE25D611E45}"/>
              </a:ext>
            </a:extLst>
          </p:cNvPr>
          <p:cNvSpPr txBox="1"/>
          <p:nvPr/>
        </p:nvSpPr>
        <p:spPr>
          <a:xfrm>
            <a:off x="6303081" y="3800025"/>
            <a:ext cx="4450412" cy="646331"/>
          </a:xfrm>
          <a:prstGeom prst="rect">
            <a:avLst/>
          </a:prstGeom>
          <a:noFill/>
        </p:spPr>
        <p:txBody>
          <a:bodyPr wrap="square" lIns="91440" tIns="45720" rIns="91440" bIns="45720" rtlCol="0" anchor="t">
            <a:spAutoFit/>
          </a:bodyPr>
          <a:lstStyle/>
          <a:p>
            <a:r>
              <a:rPr lang="en-IN">
                <a:solidFill>
                  <a:schemeClr val="bg1"/>
                </a:solidFill>
                <a:latin typeface="Times New Roman" panose="02020603050405020304" pitchFamily="18" charset="0"/>
                <a:cs typeface="Times New Roman" panose="02020603050405020304" pitchFamily="18" charset="0"/>
              </a:rPr>
              <a:t>Guided by,</a:t>
            </a:r>
          </a:p>
          <a:p>
            <a:r>
              <a:rPr lang="en-IN">
                <a:solidFill>
                  <a:schemeClr val="bg1"/>
                </a:solidFill>
                <a:latin typeface="Times New Roman"/>
                <a:cs typeface="Times New Roman"/>
              </a:rPr>
              <a:t>		Bri Jayasree Nair</a:t>
            </a:r>
            <a:endParaRPr lang="en-IN">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5922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FB7946-4A61-F0D4-E3EF-98A282757125}"/>
              </a:ext>
            </a:extLst>
          </p:cNvPr>
          <p:cNvSpPr>
            <a:spLocks noGrp="1"/>
          </p:cNvSpPr>
          <p:nvPr>
            <p:ph idx="1"/>
          </p:nvPr>
        </p:nvSpPr>
        <p:spPr/>
        <p:txBody>
          <a:bodyPr vert="horz" lIns="91440" tIns="45720" rIns="91440" bIns="45720" rtlCol="0" anchor="t">
            <a:normAutofit fontScale="92500" lnSpcReduction="20000"/>
          </a:bodyPr>
          <a:lstStyle/>
          <a:p>
            <a:r>
              <a:rPr lang="en-IN" sz="2400" dirty="0"/>
              <a:t>Introduction</a:t>
            </a:r>
          </a:p>
          <a:p>
            <a:r>
              <a:rPr lang="en-IN" sz="2400" dirty="0"/>
              <a:t>Problem Definition</a:t>
            </a:r>
          </a:p>
          <a:p>
            <a:r>
              <a:rPr lang="en-IN" sz="2400" dirty="0"/>
              <a:t>Objectives</a:t>
            </a:r>
          </a:p>
          <a:p>
            <a:r>
              <a:rPr lang="en-IN" sz="2400" dirty="0"/>
              <a:t>Literature Review Summary</a:t>
            </a:r>
          </a:p>
          <a:p>
            <a:r>
              <a:rPr lang="en-IN" sz="2400" dirty="0"/>
              <a:t>Research Gap</a:t>
            </a:r>
          </a:p>
          <a:p>
            <a:r>
              <a:rPr lang="en-IN" sz="2400" dirty="0"/>
              <a:t>Dataset Description</a:t>
            </a:r>
          </a:p>
          <a:p>
            <a:r>
              <a:rPr lang="en-IN" sz="2400" dirty="0"/>
              <a:t>Methodology / Proposed Method</a:t>
            </a:r>
          </a:p>
          <a:p>
            <a:r>
              <a:rPr lang="en-IN" sz="2400" dirty="0"/>
              <a:t>Design / Architecture</a:t>
            </a:r>
          </a:p>
          <a:p>
            <a:r>
              <a:rPr lang="en-IN" sz="2400" dirty="0"/>
              <a:t>Evaluation Metrics</a:t>
            </a:r>
          </a:p>
          <a:p>
            <a:r>
              <a:rPr lang="en-IN" sz="2400" dirty="0"/>
              <a:t>Result Analysis</a:t>
            </a:r>
          </a:p>
          <a:p>
            <a:r>
              <a:rPr lang="en-IN" sz="2400" dirty="0"/>
              <a:t>Limitations</a:t>
            </a:r>
          </a:p>
          <a:p>
            <a:r>
              <a:rPr lang="en-IN" sz="2400" dirty="0"/>
              <a:t>Phase II plan</a:t>
            </a:r>
          </a:p>
          <a:p>
            <a:r>
              <a:rPr lang="en-IN" sz="2400" dirty="0">
                <a:latin typeface="Georgia"/>
              </a:rPr>
              <a:t>Reference</a:t>
            </a:r>
          </a:p>
        </p:txBody>
      </p:sp>
      <p:sp>
        <p:nvSpPr>
          <p:cNvPr id="3" name="Title 2">
            <a:extLst>
              <a:ext uri="{FF2B5EF4-FFF2-40B4-BE49-F238E27FC236}">
                <a16:creationId xmlns:a16="http://schemas.microsoft.com/office/drawing/2014/main" id="{E8F80A38-C040-884E-9416-3B2C3AC0417C}"/>
              </a:ext>
            </a:extLst>
          </p:cNvPr>
          <p:cNvSpPr>
            <a:spLocks noGrp="1"/>
          </p:cNvSpPr>
          <p:nvPr>
            <p:ph type="title"/>
          </p:nvPr>
        </p:nvSpPr>
        <p:spPr/>
        <p:txBody>
          <a:bodyPr/>
          <a:lstStyle/>
          <a:p>
            <a:r>
              <a:rPr lang="en-IN"/>
              <a:t>Outline</a:t>
            </a:r>
          </a:p>
        </p:txBody>
      </p:sp>
      <p:sp>
        <p:nvSpPr>
          <p:cNvPr id="4" name="Slide Number Placeholder 3">
            <a:extLst>
              <a:ext uri="{FF2B5EF4-FFF2-40B4-BE49-F238E27FC236}">
                <a16:creationId xmlns:a16="http://schemas.microsoft.com/office/drawing/2014/main" id="{8F7A0663-8695-8CFA-B1EF-3BA1E5427634}"/>
              </a:ext>
            </a:extLst>
          </p:cNvPr>
          <p:cNvSpPr>
            <a:spLocks noGrp="1"/>
          </p:cNvSpPr>
          <p:nvPr>
            <p:ph type="sldNum" sz="quarter" idx="12"/>
          </p:nvPr>
        </p:nvSpPr>
        <p:spPr/>
        <p:txBody>
          <a:bodyPr/>
          <a:lstStyle/>
          <a:p>
            <a:fld id="{330EA680-D336-4FF7-8B7A-9848BB0A1C32}" type="slidenum">
              <a:rPr lang="en-US" smtClean="0"/>
              <a:pPr/>
              <a:t>2</a:t>
            </a:fld>
            <a:endParaRPr lang="en-US"/>
          </a:p>
        </p:txBody>
      </p:sp>
    </p:spTree>
    <p:extLst>
      <p:ext uri="{BB962C8B-B14F-4D97-AF65-F5344CB8AC3E}">
        <p14:creationId xmlns:p14="http://schemas.microsoft.com/office/powerpoint/2010/main" val="2683305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E294A-BB7E-A373-9507-DF6D677662D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C113CA-8C62-33DC-19EC-5C3F231DFFE2}"/>
              </a:ext>
            </a:extLst>
          </p:cNvPr>
          <p:cNvSpPr>
            <a:spLocks noGrp="1"/>
          </p:cNvSpPr>
          <p:nvPr>
            <p:ph idx="1"/>
          </p:nvPr>
        </p:nvSpPr>
        <p:spPr/>
        <p:txBody>
          <a:bodyPr vert="horz" lIns="91440" tIns="45720" rIns="91440" bIns="45720" rtlCol="0" anchor="t">
            <a:normAutofit/>
          </a:bodyPr>
          <a:lstStyle/>
          <a:p>
            <a:pPr marL="0" indent="0" algn="just">
              <a:lnSpc>
                <a:spcPct val="100000"/>
              </a:lnSpc>
              <a:buNone/>
            </a:pPr>
            <a:r>
              <a:rPr lang="en-IN" dirty="0"/>
              <a:t>Ayurvedic Sanskrit texts such as the </a:t>
            </a:r>
            <a:r>
              <a:rPr lang="en-IN" b="1" i="1" dirty="0"/>
              <a:t>Charaka </a:t>
            </a:r>
            <a:r>
              <a:rPr lang="en-IN" b="1" i="1" dirty="0" err="1"/>
              <a:t>Saṃhitā</a:t>
            </a:r>
            <a:r>
              <a:rPr lang="en-IN" b="1" dirty="0"/>
              <a:t> </a:t>
            </a:r>
            <a:r>
              <a:rPr lang="en-IN" dirty="0"/>
              <a:t>and </a:t>
            </a:r>
            <a:r>
              <a:rPr lang="en-IN" b="1" i="1" dirty="0" err="1"/>
              <a:t>Suśruta</a:t>
            </a:r>
            <a:r>
              <a:rPr lang="en-IN" b="1" i="1" dirty="0"/>
              <a:t> </a:t>
            </a:r>
            <a:r>
              <a:rPr lang="en-IN" b="1" i="1" dirty="0" err="1"/>
              <a:t>Saṃhitā</a:t>
            </a:r>
            <a:r>
              <a:rPr lang="en-IN" dirty="0"/>
              <a:t> contain extensive medical knowledge accumulated over centuries. </a:t>
            </a:r>
          </a:p>
          <a:p>
            <a:pPr marL="0" indent="0" algn="just">
              <a:lnSpc>
                <a:spcPct val="100000"/>
              </a:lnSpc>
              <a:buNone/>
            </a:pPr>
            <a:r>
              <a:rPr lang="en-IN" dirty="0"/>
              <a:t>However, their computational processing is challenging due to linguistic complexities like </a:t>
            </a:r>
            <a:r>
              <a:rPr lang="en-IN" b="1" i="1" dirty="0"/>
              <a:t>sandhi</a:t>
            </a:r>
            <a:r>
              <a:rPr lang="en-IN" dirty="0"/>
              <a:t>, </a:t>
            </a:r>
            <a:r>
              <a:rPr lang="en-IN" b="1" i="1" dirty="0" err="1"/>
              <a:t>samāsa</a:t>
            </a:r>
            <a:r>
              <a:rPr lang="en-IN" dirty="0"/>
              <a:t>, rich morphology, and free word order. Recent advances in AI and NLP provide promising techniques for processing such classical texts. </a:t>
            </a:r>
          </a:p>
          <a:p>
            <a:pPr marL="0" indent="0" algn="just">
              <a:lnSpc>
                <a:spcPct val="100000"/>
              </a:lnSpc>
              <a:buNone/>
            </a:pPr>
            <a:r>
              <a:rPr lang="en-IN" dirty="0"/>
              <a:t>This project focuses on evaluating existing models applied to Ayurvedic Sanskrit for </a:t>
            </a:r>
            <a:r>
              <a:rPr lang="en-IN" b="1" dirty="0"/>
              <a:t>sandhi</a:t>
            </a:r>
            <a:r>
              <a:rPr lang="en-IN" dirty="0"/>
              <a:t> </a:t>
            </a:r>
            <a:r>
              <a:rPr lang="en-IN" b="1" dirty="0"/>
              <a:t>splitting</a:t>
            </a:r>
            <a:r>
              <a:rPr lang="en-IN" dirty="0"/>
              <a:t>.</a:t>
            </a:r>
          </a:p>
        </p:txBody>
      </p:sp>
      <p:sp>
        <p:nvSpPr>
          <p:cNvPr id="3" name="Title 2">
            <a:extLst>
              <a:ext uri="{FF2B5EF4-FFF2-40B4-BE49-F238E27FC236}">
                <a16:creationId xmlns:a16="http://schemas.microsoft.com/office/drawing/2014/main" id="{ED06CED0-2A9B-FB0F-B02A-A8B0AFA83462}"/>
              </a:ext>
            </a:extLst>
          </p:cNvPr>
          <p:cNvSpPr>
            <a:spLocks noGrp="1"/>
          </p:cNvSpPr>
          <p:nvPr>
            <p:ph type="title"/>
          </p:nvPr>
        </p:nvSpPr>
        <p:spPr/>
        <p:txBody>
          <a:bodyPr/>
          <a:lstStyle/>
          <a:p>
            <a:r>
              <a:rPr lang="en-IN"/>
              <a:t>Introduction</a:t>
            </a:r>
          </a:p>
        </p:txBody>
      </p:sp>
      <p:sp>
        <p:nvSpPr>
          <p:cNvPr id="4" name="Slide Number Placeholder 3">
            <a:extLst>
              <a:ext uri="{FF2B5EF4-FFF2-40B4-BE49-F238E27FC236}">
                <a16:creationId xmlns:a16="http://schemas.microsoft.com/office/drawing/2014/main" id="{41A751D4-B28F-9B40-3A94-C9EA72D5AE08}"/>
              </a:ext>
            </a:extLst>
          </p:cNvPr>
          <p:cNvSpPr>
            <a:spLocks noGrp="1"/>
          </p:cNvSpPr>
          <p:nvPr>
            <p:ph type="sldNum" sz="quarter" idx="12"/>
          </p:nvPr>
        </p:nvSpPr>
        <p:spPr/>
        <p:txBody>
          <a:bodyPr/>
          <a:lstStyle/>
          <a:p>
            <a:fld id="{330EA680-D336-4FF7-8B7A-9848BB0A1C32}" type="slidenum">
              <a:rPr lang="en-US" smtClean="0"/>
              <a:pPr/>
              <a:t>3</a:t>
            </a:fld>
            <a:endParaRPr lang="en-US"/>
          </a:p>
        </p:txBody>
      </p:sp>
    </p:spTree>
    <p:extLst>
      <p:ext uri="{BB962C8B-B14F-4D97-AF65-F5344CB8AC3E}">
        <p14:creationId xmlns:p14="http://schemas.microsoft.com/office/powerpoint/2010/main" val="1634956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1425B-BFC0-147C-7F74-3696D953946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709649-32AD-5AED-E4C1-971DC8B03F7C}"/>
              </a:ext>
            </a:extLst>
          </p:cNvPr>
          <p:cNvSpPr>
            <a:spLocks noGrp="1"/>
          </p:cNvSpPr>
          <p:nvPr>
            <p:ph idx="1"/>
          </p:nvPr>
        </p:nvSpPr>
        <p:spPr/>
        <p:txBody>
          <a:bodyPr vert="horz" lIns="91440" tIns="45720" rIns="91440" bIns="45720" rtlCol="0" anchor="t">
            <a:normAutofit/>
          </a:bodyPr>
          <a:lstStyle/>
          <a:p>
            <a:pPr algn="just">
              <a:lnSpc>
                <a:spcPct val="100000"/>
              </a:lnSpc>
            </a:pPr>
            <a:r>
              <a:rPr lang="en-IN" sz="2400" dirty="0"/>
              <a:t>Ayurvedic Sanskrit texts are difficult to process computationally because of complex linguistic phenomena such as sandhi formation, compound words, and inflectional richness. </a:t>
            </a:r>
          </a:p>
          <a:p>
            <a:pPr algn="just">
              <a:lnSpc>
                <a:spcPct val="100000"/>
              </a:lnSpc>
            </a:pPr>
            <a:r>
              <a:rPr lang="en-IN" sz="2400" dirty="0"/>
              <a:t>Existing NLP models show varying performance. There is a need for a systematic approach for sandhi splitting involving Ayurvedic texts.</a:t>
            </a:r>
          </a:p>
          <a:p>
            <a:pPr algn="just">
              <a:lnSpc>
                <a:spcPct val="100000"/>
              </a:lnSpc>
            </a:pPr>
            <a:r>
              <a:rPr lang="en-IN" sz="2400" dirty="0"/>
              <a:t>There is a lack of comprehensive and dedicated models for Sandhi splitting Ayurvedic Sanskrit texts. The absence of such models leads to inconsistent and unreliable Sandhi splitting, particularly in complex compound formations and verse-level text.</a:t>
            </a:r>
          </a:p>
          <a:p>
            <a:pPr algn="just">
              <a:lnSpc>
                <a:spcPct val="100000"/>
              </a:lnSpc>
            </a:pPr>
            <a:endParaRPr lang="en-IN" sz="2400" dirty="0">
              <a:latin typeface="Georgia"/>
            </a:endParaRPr>
          </a:p>
        </p:txBody>
      </p:sp>
      <p:sp>
        <p:nvSpPr>
          <p:cNvPr id="3" name="Title 2">
            <a:extLst>
              <a:ext uri="{FF2B5EF4-FFF2-40B4-BE49-F238E27FC236}">
                <a16:creationId xmlns:a16="http://schemas.microsoft.com/office/drawing/2014/main" id="{AC5104D8-F17D-B48F-4F45-39F950BB2FE0}"/>
              </a:ext>
            </a:extLst>
          </p:cNvPr>
          <p:cNvSpPr>
            <a:spLocks noGrp="1"/>
          </p:cNvSpPr>
          <p:nvPr>
            <p:ph type="title"/>
          </p:nvPr>
        </p:nvSpPr>
        <p:spPr/>
        <p:txBody>
          <a:bodyPr/>
          <a:lstStyle/>
          <a:p>
            <a:r>
              <a:rPr lang="en-IN"/>
              <a:t>Problem Definition</a:t>
            </a:r>
          </a:p>
        </p:txBody>
      </p:sp>
      <p:sp>
        <p:nvSpPr>
          <p:cNvPr id="4" name="Slide Number Placeholder 3">
            <a:extLst>
              <a:ext uri="{FF2B5EF4-FFF2-40B4-BE49-F238E27FC236}">
                <a16:creationId xmlns:a16="http://schemas.microsoft.com/office/drawing/2014/main" id="{B4320242-8DD2-13DC-3A39-69367DEA71FA}"/>
              </a:ext>
            </a:extLst>
          </p:cNvPr>
          <p:cNvSpPr>
            <a:spLocks noGrp="1"/>
          </p:cNvSpPr>
          <p:nvPr>
            <p:ph type="sldNum" sz="quarter" idx="12"/>
          </p:nvPr>
        </p:nvSpPr>
        <p:spPr/>
        <p:txBody>
          <a:bodyPr/>
          <a:lstStyle/>
          <a:p>
            <a:fld id="{330EA680-D336-4FF7-8B7A-9848BB0A1C32}" type="slidenum">
              <a:rPr lang="en-US" smtClean="0"/>
              <a:pPr/>
              <a:t>4</a:t>
            </a:fld>
            <a:endParaRPr lang="en-US"/>
          </a:p>
        </p:txBody>
      </p:sp>
    </p:spTree>
    <p:extLst>
      <p:ext uri="{BB962C8B-B14F-4D97-AF65-F5344CB8AC3E}">
        <p14:creationId xmlns:p14="http://schemas.microsoft.com/office/powerpoint/2010/main" val="1203026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EEFCF-6467-0104-8BF0-9F5B8818378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7AE0AB-FEC5-DA5F-CF51-803DD99A1170}"/>
              </a:ext>
            </a:extLst>
          </p:cNvPr>
          <p:cNvSpPr>
            <a:spLocks noGrp="1"/>
          </p:cNvSpPr>
          <p:nvPr>
            <p:ph idx="1"/>
          </p:nvPr>
        </p:nvSpPr>
        <p:spPr/>
        <p:txBody>
          <a:bodyPr vert="horz" lIns="91440" tIns="45720" rIns="91440" bIns="45720" rtlCol="0" anchor="t">
            <a:normAutofit fontScale="92500" lnSpcReduction="10000"/>
          </a:bodyPr>
          <a:lstStyle/>
          <a:p>
            <a:pPr algn="just"/>
            <a:r>
              <a:rPr lang="en-IN" sz="2400">
                <a:latin typeface="Georgia"/>
              </a:rPr>
              <a:t>To compare AI and NLP models for processing Ayurvedic Sanskrit texts</a:t>
            </a:r>
          </a:p>
          <a:p>
            <a:pPr algn="just"/>
            <a:endParaRPr lang="en-IN" sz="2400">
              <a:latin typeface="Georgia"/>
            </a:endParaRPr>
          </a:p>
          <a:p>
            <a:pPr algn="just"/>
            <a:r>
              <a:rPr lang="en-IN" sz="2400">
                <a:latin typeface="Georgia"/>
              </a:rPr>
              <a:t>To evaluate models on sandhi-splitting, morphological analysis, and NER</a:t>
            </a:r>
          </a:p>
          <a:p>
            <a:pPr algn="just"/>
            <a:endParaRPr lang="en-IN" sz="2400">
              <a:latin typeface="Georgia"/>
            </a:endParaRPr>
          </a:p>
          <a:p>
            <a:pPr algn="just"/>
            <a:r>
              <a:rPr lang="en-IN" sz="2400">
                <a:latin typeface="Georgia"/>
              </a:rPr>
              <a:t>To analyse strengths and limitations of rule-based, statistical, and transformer-based models</a:t>
            </a:r>
          </a:p>
          <a:p>
            <a:pPr algn="just"/>
            <a:endParaRPr lang="en-IN" sz="2400">
              <a:latin typeface="Georgia"/>
            </a:endParaRPr>
          </a:p>
          <a:p>
            <a:pPr algn="just"/>
            <a:r>
              <a:rPr lang="en-IN" sz="2400">
                <a:latin typeface="Georgia"/>
              </a:rPr>
              <a:t>To assess model performance using standard evaluation metrics</a:t>
            </a:r>
          </a:p>
          <a:p>
            <a:pPr algn="just"/>
            <a:endParaRPr lang="en-IN" sz="2400">
              <a:latin typeface="Georgia"/>
            </a:endParaRPr>
          </a:p>
          <a:p>
            <a:pPr algn="just"/>
            <a:r>
              <a:rPr lang="en-IN" sz="2400">
                <a:latin typeface="Georgia"/>
              </a:rPr>
              <a:t>To identify challenges specific to Sanskrit NLP</a:t>
            </a:r>
          </a:p>
          <a:p>
            <a:pPr algn="just"/>
            <a:endParaRPr lang="en-IN" sz="2400">
              <a:latin typeface="Georgia"/>
            </a:endParaRPr>
          </a:p>
          <a:p>
            <a:pPr algn="just"/>
            <a:r>
              <a:rPr lang="en-IN" sz="2400">
                <a:latin typeface="Georgia"/>
              </a:rPr>
              <a:t>To recommend suitable models for future Ayurvedic knowledge extraction systems</a:t>
            </a:r>
          </a:p>
        </p:txBody>
      </p:sp>
      <p:sp>
        <p:nvSpPr>
          <p:cNvPr id="3" name="Title 2">
            <a:extLst>
              <a:ext uri="{FF2B5EF4-FFF2-40B4-BE49-F238E27FC236}">
                <a16:creationId xmlns:a16="http://schemas.microsoft.com/office/drawing/2014/main" id="{FDC84E2C-1874-9DE1-1FCC-0142B8D63064}"/>
              </a:ext>
            </a:extLst>
          </p:cNvPr>
          <p:cNvSpPr>
            <a:spLocks noGrp="1"/>
          </p:cNvSpPr>
          <p:nvPr>
            <p:ph type="title"/>
          </p:nvPr>
        </p:nvSpPr>
        <p:spPr/>
        <p:txBody>
          <a:bodyPr/>
          <a:lstStyle/>
          <a:p>
            <a:r>
              <a:rPr lang="en-IN"/>
              <a:t>Objectives</a:t>
            </a:r>
          </a:p>
        </p:txBody>
      </p:sp>
      <p:sp>
        <p:nvSpPr>
          <p:cNvPr id="4" name="Slide Number Placeholder 3">
            <a:extLst>
              <a:ext uri="{FF2B5EF4-FFF2-40B4-BE49-F238E27FC236}">
                <a16:creationId xmlns:a16="http://schemas.microsoft.com/office/drawing/2014/main" id="{62AAFE1D-38BA-597E-A131-CCAFFD62DA14}"/>
              </a:ext>
            </a:extLst>
          </p:cNvPr>
          <p:cNvSpPr>
            <a:spLocks noGrp="1"/>
          </p:cNvSpPr>
          <p:nvPr>
            <p:ph type="sldNum" sz="quarter" idx="12"/>
          </p:nvPr>
        </p:nvSpPr>
        <p:spPr/>
        <p:txBody>
          <a:bodyPr/>
          <a:lstStyle/>
          <a:p>
            <a:fld id="{330EA680-D336-4FF7-8B7A-9848BB0A1C32}" type="slidenum">
              <a:rPr lang="en-US" smtClean="0"/>
              <a:pPr/>
              <a:t>5</a:t>
            </a:fld>
            <a:endParaRPr lang="en-US"/>
          </a:p>
        </p:txBody>
      </p:sp>
    </p:spTree>
    <p:extLst>
      <p:ext uri="{BB962C8B-B14F-4D97-AF65-F5344CB8AC3E}">
        <p14:creationId xmlns:p14="http://schemas.microsoft.com/office/powerpoint/2010/main" val="3195794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182F6-0EEB-B3B3-B75C-817D1B1D933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1F66587-3498-CB91-6EBB-DC6EE90E75E4}"/>
              </a:ext>
            </a:extLst>
          </p:cNvPr>
          <p:cNvSpPr>
            <a:spLocks noGrp="1"/>
          </p:cNvSpPr>
          <p:nvPr>
            <p:ph type="title"/>
          </p:nvPr>
        </p:nvSpPr>
        <p:spPr>
          <a:xfrm>
            <a:off x="478532" y="373522"/>
            <a:ext cx="11209376" cy="464000"/>
          </a:xfrm>
        </p:spPr>
        <p:txBody>
          <a:bodyPr/>
          <a:lstStyle/>
          <a:p>
            <a:r>
              <a:rPr lang="en-IN"/>
              <a:t>Literature Review Summary</a:t>
            </a:r>
          </a:p>
        </p:txBody>
      </p:sp>
      <p:sp>
        <p:nvSpPr>
          <p:cNvPr id="4" name="Slide Number Placeholder 3">
            <a:extLst>
              <a:ext uri="{FF2B5EF4-FFF2-40B4-BE49-F238E27FC236}">
                <a16:creationId xmlns:a16="http://schemas.microsoft.com/office/drawing/2014/main" id="{018388DA-AADC-F49D-1549-6D993A4EAF30}"/>
              </a:ext>
            </a:extLst>
          </p:cNvPr>
          <p:cNvSpPr>
            <a:spLocks noGrp="1"/>
          </p:cNvSpPr>
          <p:nvPr>
            <p:ph type="sldNum" sz="quarter" idx="12"/>
          </p:nvPr>
        </p:nvSpPr>
        <p:spPr/>
        <p:txBody>
          <a:bodyPr/>
          <a:lstStyle/>
          <a:p>
            <a:fld id="{330EA680-D336-4FF7-8B7A-9848BB0A1C32}" type="slidenum">
              <a:rPr lang="en-US" smtClean="0"/>
              <a:pPr/>
              <a:t>6</a:t>
            </a:fld>
            <a:endParaRPr lang="en-US"/>
          </a:p>
        </p:txBody>
      </p:sp>
      <p:graphicFrame>
        <p:nvGraphicFramePr>
          <p:cNvPr id="8" name="Table 7">
            <a:extLst>
              <a:ext uri="{FF2B5EF4-FFF2-40B4-BE49-F238E27FC236}">
                <a16:creationId xmlns:a16="http://schemas.microsoft.com/office/drawing/2014/main" id="{50C188B6-1CF9-3163-45ED-33D93D79BDF4}"/>
              </a:ext>
            </a:extLst>
          </p:cNvPr>
          <p:cNvGraphicFramePr>
            <a:graphicFrameLocks noGrp="1"/>
          </p:cNvGraphicFramePr>
          <p:nvPr>
            <p:extLst>
              <p:ext uri="{D42A27DB-BD31-4B8C-83A1-F6EECF244321}">
                <p14:modId xmlns:p14="http://schemas.microsoft.com/office/powerpoint/2010/main" val="4100503403"/>
              </p:ext>
            </p:extLst>
          </p:nvPr>
        </p:nvGraphicFramePr>
        <p:xfrm>
          <a:off x="504092" y="1114149"/>
          <a:ext cx="11183816" cy="4394296"/>
        </p:xfrm>
        <a:graphic>
          <a:graphicData uri="http://schemas.openxmlformats.org/drawingml/2006/table">
            <a:tbl>
              <a:tblPr/>
              <a:tblGrid>
                <a:gridCol w="2795954">
                  <a:extLst>
                    <a:ext uri="{9D8B030D-6E8A-4147-A177-3AD203B41FA5}">
                      <a16:colId xmlns:a16="http://schemas.microsoft.com/office/drawing/2014/main" val="4279621360"/>
                    </a:ext>
                  </a:extLst>
                </a:gridCol>
                <a:gridCol w="2795954">
                  <a:extLst>
                    <a:ext uri="{9D8B030D-6E8A-4147-A177-3AD203B41FA5}">
                      <a16:colId xmlns:a16="http://schemas.microsoft.com/office/drawing/2014/main" val="4244740011"/>
                    </a:ext>
                  </a:extLst>
                </a:gridCol>
                <a:gridCol w="2795954">
                  <a:extLst>
                    <a:ext uri="{9D8B030D-6E8A-4147-A177-3AD203B41FA5}">
                      <a16:colId xmlns:a16="http://schemas.microsoft.com/office/drawing/2014/main" val="866717595"/>
                    </a:ext>
                  </a:extLst>
                </a:gridCol>
                <a:gridCol w="2795954">
                  <a:extLst>
                    <a:ext uri="{9D8B030D-6E8A-4147-A177-3AD203B41FA5}">
                      <a16:colId xmlns:a16="http://schemas.microsoft.com/office/drawing/2014/main" val="4193832250"/>
                    </a:ext>
                  </a:extLst>
                </a:gridCol>
              </a:tblGrid>
              <a:tr h="184362">
                <a:tc>
                  <a:txBody>
                    <a:bodyPr/>
                    <a:lstStyle/>
                    <a:p>
                      <a:pPr algn="ctr">
                        <a:buNone/>
                      </a:pPr>
                      <a:r>
                        <a:rPr lang="en-US" sz="1200" b="1">
                          <a:effectLst/>
                        </a:rPr>
                        <a:t>Paper Title</a:t>
                      </a: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sz="1200" b="1">
                          <a:effectLst/>
                        </a:rPr>
                        <a:t>Methodology</a:t>
                      </a: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sz="1200" b="1">
                          <a:effectLst/>
                        </a:rPr>
                        <a:t>Dataset</a:t>
                      </a: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US" sz="1200" b="1">
                          <a:effectLst/>
                        </a:rPr>
                        <a:t>Limitations</a:t>
                      </a: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3714868"/>
                  </a:ext>
                </a:extLst>
              </a:tr>
              <a:tr h="68040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a:t>A Benchmark and Dataset for Post-OCR text correction in Sanskrit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t>Seq2seq correction baselines for Sanskrit OCR </a:t>
                      </a:r>
                      <a:endParaRPr lang="en-US" sz="1200" dirty="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a:t>218k Sanskrit OCR corrected sentences</a:t>
                      </a:r>
                      <a:r>
                        <a:rPr lang="en-US" sz="1200">
                          <a:effectLst/>
                        </a:rPr>
                        <a:t>.</a:t>
                      </a:r>
                    </a:p>
                    <a:p>
                      <a:pPr algn="ctr">
                        <a:buNone/>
                      </a:pP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a:t>Needs Ayurveda specific adaptation. not domain focused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52259811"/>
                  </a:ext>
                </a:extLst>
              </a:tr>
              <a:tr h="68040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a:t>NLP-Based Knowledge Extraction from Charak Samhita for Navigating Ancient Wisdom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a:t>Django system: OCR + NER + query interface</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IN" sz="1200" err="1"/>
                        <a:t>OCR’d</a:t>
                      </a:r>
                      <a:r>
                        <a:rPr lang="en-IN" sz="1200"/>
                        <a:t> Charaka </a:t>
                      </a:r>
                      <a:r>
                        <a:rPr lang="en-IN" sz="1200" err="1"/>
                        <a:t>Saṃhitā</a:t>
                      </a:r>
                      <a:r>
                        <a:rPr lang="en-IN" sz="1200"/>
                        <a:t>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a:t>Used translations, Sanskrit-native pipeline needed</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15706007"/>
                  </a:ext>
                </a:extLst>
              </a:tr>
              <a:tr h="526211">
                <a:tc>
                  <a:txBody>
                    <a:bodyPr/>
                    <a:lstStyle/>
                    <a:p>
                      <a:pPr algn="ctr">
                        <a:buNone/>
                      </a:pPr>
                      <a:r>
                        <a:rPr lang="en-IN" sz="1200" dirty="0"/>
                        <a:t>Digital Corpus of Sanskrit: Towards Improved Segmentation and Normalization </a:t>
                      </a:r>
                      <a:endParaRPr lang="en-US" sz="1200" dirty="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F6F7"/>
                    </a:solidFill>
                  </a:tcPr>
                </a:tc>
                <a:tc>
                  <a:txBody>
                    <a:bodyPr/>
                    <a:lstStyle/>
                    <a:p>
                      <a:pPr algn="ctr">
                        <a:buNone/>
                      </a:pPr>
                      <a:r>
                        <a:rPr lang="en-IN" sz="1200"/>
                        <a:t>Normalization &amp; segmentation improvements for Sanskrit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F6F7"/>
                    </a:solidFill>
                  </a:tcPr>
                </a:tc>
                <a:tc>
                  <a:txBody>
                    <a:bodyPr/>
                    <a:lstStyle/>
                    <a:p>
                      <a:pPr algn="ctr">
                        <a:buNone/>
                      </a:pPr>
                      <a:r>
                        <a:rPr lang="en-IN" sz="1200"/>
                        <a:t>Digital Corpus of Sanskrit (DCS)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F6F7"/>
                    </a:solidFill>
                  </a:tcPr>
                </a:tc>
                <a:tc>
                  <a:txBody>
                    <a:bodyPr/>
                    <a:lstStyle/>
                    <a:p>
                      <a:pPr algn="ctr">
                        <a:buNone/>
                      </a:pPr>
                      <a:r>
                        <a:rPr lang="en-IN" sz="1200"/>
                        <a:t>Lacks Ayurvedic corpora; calls for domain specific expansion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F6F7"/>
                    </a:solidFill>
                  </a:tcPr>
                </a:tc>
                <a:extLst>
                  <a:ext uri="{0D108BD9-81ED-4DB2-BD59-A6C34878D82A}">
                    <a16:rowId xmlns:a16="http://schemas.microsoft.com/office/drawing/2014/main" val="2417223238"/>
                  </a:ext>
                </a:extLst>
              </a:tr>
              <a:tr h="560717">
                <a:tc>
                  <a:txBody>
                    <a:bodyPr/>
                    <a:lstStyle/>
                    <a:p>
                      <a:pPr algn="ctr">
                        <a:buNone/>
                      </a:pPr>
                      <a:r>
                        <a:rPr lang="en-IN" sz="1200"/>
                        <a:t>Building Named Entity Resources for Sanskrit Texts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IN" sz="1200" dirty="0"/>
                        <a:t>Pre annotation + bilingual alignment + gazetteers </a:t>
                      </a:r>
                      <a:endParaRPr lang="en-US" sz="1200" dirty="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IN" sz="1200" err="1"/>
                        <a:t>Śrīmad-Bhāgavatam</a:t>
                      </a:r>
                      <a:r>
                        <a:rPr lang="en-IN" sz="1200"/>
                        <a:t> subset (NER corpus)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IN" sz="1200" dirty="0"/>
                        <a:t>Entities limited to persons/places. Ayurveda entities missing </a:t>
                      </a:r>
                      <a:endParaRPr lang="en-US" sz="1200" dirty="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40978933"/>
                  </a:ext>
                </a:extLst>
              </a:tr>
              <a:tr h="560717">
                <a:tc>
                  <a:txBody>
                    <a:bodyPr/>
                    <a:lstStyle/>
                    <a:p>
                      <a:pPr algn="ctr">
                        <a:buNone/>
                      </a:pPr>
                      <a:r>
                        <a:rPr lang="en-IN" sz="1200"/>
                        <a:t>Mapping Research Trends in Ayurveda: A Bibliometric Study (1993 2022)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IN" sz="1200"/>
                        <a:t>Bibliometric mapping of Ayurveda research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IN" sz="1200"/>
                        <a:t>11,773 Ayurveda publications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IN" sz="1200"/>
                        <a:t>Not technical NLP; shows domain significance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08081453"/>
                  </a:ext>
                </a:extLst>
              </a:tr>
              <a:tr h="560717">
                <a:tc>
                  <a:txBody>
                    <a:bodyPr/>
                    <a:lstStyle/>
                    <a:p>
                      <a:pPr algn="ctr">
                        <a:buNone/>
                      </a:pPr>
                      <a:r>
                        <a:rPr lang="en-IN" sz="1200"/>
                        <a:t>Advances in Morphological Segmentation and Compound Analysis in Sanskrit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IN" sz="1200" dirty="0"/>
                        <a:t>Morpho syntactic parsing for Sanskrit</a:t>
                      </a:r>
                      <a:endParaRPr lang="en-US" sz="1200" dirty="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IN" sz="1200"/>
                        <a:t>Sanskrit Digital Corpus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IN" sz="1200"/>
                        <a:t>No Ayurvedic integration; useful for preprocessing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22669869"/>
                  </a:ext>
                </a:extLst>
              </a:tr>
              <a:tr h="560717">
                <a:tc>
                  <a:txBody>
                    <a:bodyPr/>
                    <a:lstStyle/>
                    <a:p>
                      <a:pPr algn="ctr">
                        <a:buNone/>
                      </a:pPr>
                      <a:r>
                        <a:rPr lang="en-IN" sz="1200" dirty="0"/>
                        <a:t>Sanskrit Semantic Parsing for Knowledge Extraction</a:t>
                      </a:r>
                      <a:endParaRPr lang="en-US" sz="1200" dirty="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IN" sz="1200"/>
                        <a:t>Semantic parsing for extracting relations </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IN" sz="1200"/>
                        <a:t>Sanskrit annotated datasets</a:t>
                      </a:r>
                      <a:endParaRPr lang="en-US" sz="120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a:buNone/>
                      </a:pPr>
                      <a:r>
                        <a:rPr lang="en-IN" sz="1200" dirty="0"/>
                        <a:t>Not domain specific; Ayurveda corpus missing</a:t>
                      </a:r>
                      <a:endParaRPr lang="en-US" sz="1200" dirty="0">
                        <a:effectLst/>
                      </a:endParaRPr>
                    </a:p>
                  </a:txBody>
                  <a:tcPr marL="29546" marR="29546" marT="14773" marB="14773"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77065689"/>
                  </a:ext>
                </a:extLst>
              </a:tr>
            </a:tbl>
          </a:graphicData>
        </a:graphic>
      </p:graphicFrame>
    </p:spTree>
    <p:extLst>
      <p:ext uri="{BB962C8B-B14F-4D97-AF65-F5344CB8AC3E}">
        <p14:creationId xmlns:p14="http://schemas.microsoft.com/office/powerpoint/2010/main" val="780282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2C9B8-CC21-9D46-54DC-96A43FA65A4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FBF723-BF25-3D14-DCEF-409A3D1496FB}"/>
              </a:ext>
            </a:extLst>
          </p:cNvPr>
          <p:cNvSpPr>
            <a:spLocks noGrp="1"/>
          </p:cNvSpPr>
          <p:nvPr>
            <p:ph idx="1"/>
          </p:nvPr>
        </p:nvSpPr>
        <p:spPr/>
        <p:txBody>
          <a:bodyPr vert="horz" lIns="91440" tIns="45720" rIns="91440" bIns="45720" rtlCol="0" anchor="t">
            <a:normAutofit/>
          </a:bodyPr>
          <a:lstStyle/>
          <a:p>
            <a:r>
              <a:rPr lang="en-IN" sz="2400" dirty="0"/>
              <a:t>Lack of integration of contemporary Pre-trained Language Models with Ayurveda</a:t>
            </a:r>
          </a:p>
          <a:p>
            <a:endParaRPr lang="en-IN" sz="2400" dirty="0">
              <a:latin typeface="Georgia"/>
            </a:endParaRPr>
          </a:p>
          <a:p>
            <a:endParaRPr lang="en-IN" sz="2400" dirty="0">
              <a:latin typeface="Georgia"/>
            </a:endParaRPr>
          </a:p>
          <a:p>
            <a:r>
              <a:rPr lang="en-IN" sz="2400" dirty="0"/>
              <a:t>Lack of domain-specific annotated corpora</a:t>
            </a:r>
          </a:p>
          <a:p>
            <a:endParaRPr lang="en-IN" sz="2400" dirty="0">
              <a:latin typeface="Georgia"/>
            </a:endParaRPr>
          </a:p>
          <a:p>
            <a:endParaRPr lang="en-IN" sz="2400" dirty="0">
              <a:latin typeface="Georgia"/>
            </a:endParaRPr>
          </a:p>
          <a:p>
            <a:r>
              <a:rPr lang="en-IN" sz="2400" dirty="0"/>
              <a:t>Inadequate handling of complex Sanskrit linguistic phenomena in domain context</a:t>
            </a:r>
            <a:endParaRPr lang="en-IN" sz="2400" dirty="0">
              <a:latin typeface="Georgia"/>
            </a:endParaRPr>
          </a:p>
        </p:txBody>
      </p:sp>
      <p:sp>
        <p:nvSpPr>
          <p:cNvPr id="3" name="Title 2">
            <a:extLst>
              <a:ext uri="{FF2B5EF4-FFF2-40B4-BE49-F238E27FC236}">
                <a16:creationId xmlns:a16="http://schemas.microsoft.com/office/drawing/2014/main" id="{A5109C3D-40F0-4A69-9202-1937BB6A66F6}"/>
              </a:ext>
            </a:extLst>
          </p:cNvPr>
          <p:cNvSpPr>
            <a:spLocks noGrp="1"/>
          </p:cNvSpPr>
          <p:nvPr>
            <p:ph type="title"/>
          </p:nvPr>
        </p:nvSpPr>
        <p:spPr/>
        <p:txBody>
          <a:bodyPr/>
          <a:lstStyle/>
          <a:p>
            <a:r>
              <a:rPr lang="en-IN"/>
              <a:t>Research Gap</a:t>
            </a:r>
          </a:p>
        </p:txBody>
      </p:sp>
      <p:sp>
        <p:nvSpPr>
          <p:cNvPr id="4" name="Slide Number Placeholder 3">
            <a:extLst>
              <a:ext uri="{FF2B5EF4-FFF2-40B4-BE49-F238E27FC236}">
                <a16:creationId xmlns:a16="http://schemas.microsoft.com/office/drawing/2014/main" id="{3326A98A-CBA3-84E0-15A6-BA70ACEDAD56}"/>
              </a:ext>
            </a:extLst>
          </p:cNvPr>
          <p:cNvSpPr>
            <a:spLocks noGrp="1"/>
          </p:cNvSpPr>
          <p:nvPr>
            <p:ph type="sldNum" sz="quarter" idx="12"/>
          </p:nvPr>
        </p:nvSpPr>
        <p:spPr/>
        <p:txBody>
          <a:bodyPr/>
          <a:lstStyle/>
          <a:p>
            <a:fld id="{330EA680-D336-4FF7-8B7A-9848BB0A1C32}" type="slidenum">
              <a:rPr lang="en-US" smtClean="0"/>
              <a:pPr/>
              <a:t>7</a:t>
            </a:fld>
            <a:endParaRPr lang="en-US"/>
          </a:p>
        </p:txBody>
      </p:sp>
    </p:spTree>
    <p:extLst>
      <p:ext uri="{BB962C8B-B14F-4D97-AF65-F5344CB8AC3E}">
        <p14:creationId xmlns:p14="http://schemas.microsoft.com/office/powerpoint/2010/main" val="685721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E5695-287C-F205-0DF3-C0D9BD995A7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26153C-172E-A1C7-ED55-20E5C29B2772}"/>
              </a:ext>
            </a:extLst>
          </p:cNvPr>
          <p:cNvSpPr>
            <a:spLocks noGrp="1"/>
          </p:cNvSpPr>
          <p:nvPr>
            <p:ph idx="1"/>
          </p:nvPr>
        </p:nvSpPr>
        <p:spPr/>
        <p:txBody>
          <a:bodyPr vert="horz" lIns="91440" tIns="45720" rIns="91440" bIns="45720" rtlCol="0" anchor="t">
            <a:normAutofit/>
          </a:bodyPr>
          <a:lstStyle/>
          <a:p>
            <a:r>
              <a:rPr lang="en-IN" sz="2400" dirty="0">
                <a:latin typeface="Georgia"/>
              </a:rPr>
              <a:t>Source texts: Charaka </a:t>
            </a:r>
            <a:r>
              <a:rPr lang="en-IN" sz="2400" dirty="0" err="1">
                <a:latin typeface="Georgia"/>
              </a:rPr>
              <a:t>Saṃhitā</a:t>
            </a:r>
            <a:r>
              <a:rPr lang="en-IN" sz="2400" dirty="0">
                <a:latin typeface="Georgia"/>
              </a:rPr>
              <a:t> </a:t>
            </a:r>
          </a:p>
          <a:p>
            <a:endParaRPr lang="en-IN" sz="2400" dirty="0">
              <a:latin typeface="Georgia"/>
            </a:endParaRPr>
          </a:p>
          <a:p>
            <a:r>
              <a:rPr lang="en-IN" sz="2400" dirty="0">
                <a:latin typeface="Georgia"/>
              </a:rPr>
              <a:t>Source: University of Hyderabad</a:t>
            </a:r>
          </a:p>
          <a:p>
            <a:endParaRPr lang="en-IN" sz="2400" dirty="0">
              <a:latin typeface="Georgia"/>
            </a:endParaRPr>
          </a:p>
          <a:p>
            <a:r>
              <a:rPr lang="en-IN" sz="2400" dirty="0">
                <a:latin typeface="Georgia"/>
              </a:rPr>
              <a:t>Data type: Sanskrit verses with chapter markers</a:t>
            </a:r>
          </a:p>
          <a:p>
            <a:pPr marL="0" indent="0">
              <a:buNone/>
            </a:pPr>
            <a:endParaRPr lang="en-IN" sz="2400" dirty="0">
              <a:latin typeface="Georgia"/>
            </a:endParaRPr>
          </a:p>
          <a:p>
            <a:r>
              <a:rPr lang="en-IN" sz="2400" dirty="0">
                <a:latin typeface="Georgia"/>
              </a:rPr>
              <a:t>Dataset size: Small, manually annotated</a:t>
            </a:r>
          </a:p>
          <a:p>
            <a:endParaRPr lang="en-IN" sz="2400" dirty="0">
              <a:latin typeface="Georgia"/>
            </a:endParaRPr>
          </a:p>
        </p:txBody>
      </p:sp>
      <p:sp>
        <p:nvSpPr>
          <p:cNvPr id="3" name="Title 2">
            <a:extLst>
              <a:ext uri="{FF2B5EF4-FFF2-40B4-BE49-F238E27FC236}">
                <a16:creationId xmlns:a16="http://schemas.microsoft.com/office/drawing/2014/main" id="{43EBD4FD-0C15-4E10-D606-4681A8FD9CF5}"/>
              </a:ext>
            </a:extLst>
          </p:cNvPr>
          <p:cNvSpPr>
            <a:spLocks noGrp="1"/>
          </p:cNvSpPr>
          <p:nvPr>
            <p:ph type="title"/>
          </p:nvPr>
        </p:nvSpPr>
        <p:spPr/>
        <p:txBody>
          <a:bodyPr/>
          <a:lstStyle/>
          <a:p>
            <a:r>
              <a:rPr lang="en-IN"/>
              <a:t>Dataset Description</a:t>
            </a:r>
          </a:p>
        </p:txBody>
      </p:sp>
      <p:sp>
        <p:nvSpPr>
          <p:cNvPr id="4" name="Slide Number Placeholder 3">
            <a:extLst>
              <a:ext uri="{FF2B5EF4-FFF2-40B4-BE49-F238E27FC236}">
                <a16:creationId xmlns:a16="http://schemas.microsoft.com/office/drawing/2014/main" id="{B98A6A9D-68BB-A50E-EABB-934FA25F5DA2}"/>
              </a:ext>
            </a:extLst>
          </p:cNvPr>
          <p:cNvSpPr>
            <a:spLocks noGrp="1"/>
          </p:cNvSpPr>
          <p:nvPr>
            <p:ph type="sldNum" sz="quarter" idx="12"/>
          </p:nvPr>
        </p:nvSpPr>
        <p:spPr/>
        <p:txBody>
          <a:bodyPr/>
          <a:lstStyle/>
          <a:p>
            <a:fld id="{330EA680-D336-4FF7-8B7A-9848BB0A1C32}" type="slidenum">
              <a:rPr lang="en-US" smtClean="0"/>
              <a:pPr/>
              <a:t>8</a:t>
            </a:fld>
            <a:endParaRPr lang="en-US"/>
          </a:p>
        </p:txBody>
      </p:sp>
    </p:spTree>
    <p:extLst>
      <p:ext uri="{BB962C8B-B14F-4D97-AF65-F5344CB8AC3E}">
        <p14:creationId xmlns:p14="http://schemas.microsoft.com/office/powerpoint/2010/main" val="1331191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C05CA-B3B3-6113-0583-19AADF5D8EA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394197-8C3D-6BC8-2A64-8A2263775456}"/>
              </a:ext>
            </a:extLst>
          </p:cNvPr>
          <p:cNvSpPr>
            <a:spLocks noGrp="1"/>
          </p:cNvSpPr>
          <p:nvPr>
            <p:ph idx="1"/>
          </p:nvPr>
        </p:nvSpPr>
        <p:spPr/>
        <p:txBody>
          <a:bodyPr vert="horz" lIns="91440" tIns="45720" rIns="91440" bIns="45720" rtlCol="0" anchor="t">
            <a:normAutofit/>
          </a:bodyPr>
          <a:lstStyle/>
          <a:p>
            <a:r>
              <a:rPr lang="en-IN" sz="2400" dirty="0">
                <a:latin typeface="Georgia"/>
              </a:rPr>
              <a:t>Dataset Preparation – Selection and automated annotation of verses</a:t>
            </a:r>
          </a:p>
          <a:p>
            <a:endParaRPr lang="en-IN" sz="2400" dirty="0">
              <a:latin typeface="Georgia"/>
            </a:endParaRPr>
          </a:p>
          <a:p>
            <a:r>
              <a:rPr lang="en-IN" sz="2400" dirty="0">
                <a:latin typeface="Georgia"/>
              </a:rPr>
              <a:t>Preprocessing – Normalization, tokenization, cleaning</a:t>
            </a:r>
          </a:p>
          <a:p>
            <a:pPr marL="0" indent="0">
              <a:buNone/>
            </a:pPr>
            <a:endParaRPr lang="en-IN" sz="2400" dirty="0">
              <a:latin typeface="Georgia"/>
            </a:endParaRPr>
          </a:p>
          <a:p>
            <a:r>
              <a:rPr lang="en-IN" sz="2400" dirty="0">
                <a:latin typeface="Georgia"/>
              </a:rPr>
              <a:t>Task Evaluation – Sandhi-splitting</a:t>
            </a:r>
          </a:p>
          <a:p>
            <a:endParaRPr lang="en-IN" sz="2400" dirty="0">
              <a:latin typeface="Georgia"/>
            </a:endParaRPr>
          </a:p>
          <a:p>
            <a:r>
              <a:rPr lang="en-IN" sz="2400" dirty="0">
                <a:latin typeface="Georgia"/>
              </a:rPr>
              <a:t>Evaluation of different models for Sandhi Splitting</a:t>
            </a:r>
          </a:p>
        </p:txBody>
      </p:sp>
      <p:sp>
        <p:nvSpPr>
          <p:cNvPr id="3" name="Title 2">
            <a:extLst>
              <a:ext uri="{FF2B5EF4-FFF2-40B4-BE49-F238E27FC236}">
                <a16:creationId xmlns:a16="http://schemas.microsoft.com/office/drawing/2014/main" id="{6F95DDE7-D575-CF4F-7264-5C991578BA19}"/>
              </a:ext>
            </a:extLst>
          </p:cNvPr>
          <p:cNvSpPr>
            <a:spLocks noGrp="1"/>
          </p:cNvSpPr>
          <p:nvPr>
            <p:ph type="title"/>
          </p:nvPr>
        </p:nvSpPr>
        <p:spPr/>
        <p:txBody>
          <a:bodyPr/>
          <a:lstStyle/>
          <a:p>
            <a:r>
              <a:rPr lang="en-IN"/>
              <a:t>Methodology / Proposed Method</a:t>
            </a:r>
          </a:p>
        </p:txBody>
      </p:sp>
      <p:sp>
        <p:nvSpPr>
          <p:cNvPr id="4" name="Slide Number Placeholder 3">
            <a:extLst>
              <a:ext uri="{FF2B5EF4-FFF2-40B4-BE49-F238E27FC236}">
                <a16:creationId xmlns:a16="http://schemas.microsoft.com/office/drawing/2014/main" id="{CA223C5A-88D6-7D0D-125E-8B14B21F75E6}"/>
              </a:ext>
            </a:extLst>
          </p:cNvPr>
          <p:cNvSpPr>
            <a:spLocks noGrp="1"/>
          </p:cNvSpPr>
          <p:nvPr>
            <p:ph type="sldNum" sz="quarter" idx="12"/>
          </p:nvPr>
        </p:nvSpPr>
        <p:spPr/>
        <p:txBody>
          <a:bodyPr/>
          <a:lstStyle/>
          <a:p>
            <a:fld id="{330EA680-D336-4FF7-8B7A-9848BB0A1C32}" type="slidenum">
              <a:rPr lang="en-US" smtClean="0"/>
              <a:pPr/>
              <a:t>9</a:t>
            </a:fld>
            <a:endParaRPr lang="en-US"/>
          </a:p>
        </p:txBody>
      </p:sp>
    </p:spTree>
    <p:extLst>
      <p:ext uri="{BB962C8B-B14F-4D97-AF65-F5344CB8AC3E}">
        <p14:creationId xmlns:p14="http://schemas.microsoft.com/office/powerpoint/2010/main" val="2490191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9EAAE-2A30-0075-5EA5-8385FB9E08D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3B66C20-5DE3-33C8-8D67-B4E7331D8438}"/>
              </a:ext>
            </a:extLst>
          </p:cNvPr>
          <p:cNvSpPr>
            <a:spLocks noGrp="1"/>
          </p:cNvSpPr>
          <p:nvPr>
            <p:ph type="title"/>
          </p:nvPr>
        </p:nvSpPr>
        <p:spPr/>
        <p:txBody>
          <a:bodyPr/>
          <a:lstStyle/>
          <a:p>
            <a:r>
              <a:rPr lang="en-IN" dirty="0"/>
              <a:t>Architecture - Seq2Seq</a:t>
            </a:r>
          </a:p>
        </p:txBody>
      </p:sp>
      <p:sp>
        <p:nvSpPr>
          <p:cNvPr id="4" name="Slide Number Placeholder 3">
            <a:extLst>
              <a:ext uri="{FF2B5EF4-FFF2-40B4-BE49-F238E27FC236}">
                <a16:creationId xmlns:a16="http://schemas.microsoft.com/office/drawing/2014/main" id="{A637E4BC-D905-F5ED-B2E2-C9BC7EE28445}"/>
              </a:ext>
            </a:extLst>
          </p:cNvPr>
          <p:cNvSpPr>
            <a:spLocks noGrp="1"/>
          </p:cNvSpPr>
          <p:nvPr>
            <p:ph type="sldNum" sz="quarter" idx="12"/>
          </p:nvPr>
        </p:nvSpPr>
        <p:spPr/>
        <p:txBody>
          <a:bodyPr/>
          <a:lstStyle/>
          <a:p>
            <a:fld id="{330EA680-D336-4FF7-8B7A-9848BB0A1C32}" type="slidenum">
              <a:rPr lang="en-US" smtClean="0"/>
              <a:pPr/>
              <a:t>10</a:t>
            </a:fld>
            <a:endParaRPr lang="en-US"/>
          </a:p>
        </p:txBody>
      </p:sp>
      <p:pic>
        <p:nvPicPr>
          <p:cNvPr id="11" name="Content Placeholder 10">
            <a:extLst>
              <a:ext uri="{FF2B5EF4-FFF2-40B4-BE49-F238E27FC236}">
                <a16:creationId xmlns:a16="http://schemas.microsoft.com/office/drawing/2014/main" id="{83D0D669-CA59-C5E6-8E84-621C4304D1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7291" y="1279398"/>
            <a:ext cx="9497417" cy="3621786"/>
          </a:xfrm>
        </p:spPr>
      </p:pic>
    </p:spTree>
    <p:extLst>
      <p:ext uri="{BB962C8B-B14F-4D97-AF65-F5344CB8AC3E}">
        <p14:creationId xmlns:p14="http://schemas.microsoft.com/office/powerpoint/2010/main" val="3277950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117AF-D8FE-ABCB-49C8-2F7DE1986C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CD95F1B-4D7E-41FB-4B77-E45C496B3897}"/>
              </a:ext>
            </a:extLst>
          </p:cNvPr>
          <p:cNvSpPr>
            <a:spLocks noGrp="1"/>
          </p:cNvSpPr>
          <p:nvPr>
            <p:ph type="title"/>
          </p:nvPr>
        </p:nvSpPr>
        <p:spPr/>
        <p:txBody>
          <a:bodyPr/>
          <a:lstStyle/>
          <a:p>
            <a:r>
              <a:rPr lang="en-IN" dirty="0"/>
              <a:t>Architecture - RNN</a:t>
            </a:r>
          </a:p>
        </p:txBody>
      </p:sp>
      <p:sp>
        <p:nvSpPr>
          <p:cNvPr id="4" name="Slide Number Placeholder 3">
            <a:extLst>
              <a:ext uri="{FF2B5EF4-FFF2-40B4-BE49-F238E27FC236}">
                <a16:creationId xmlns:a16="http://schemas.microsoft.com/office/drawing/2014/main" id="{2BA6B61B-8842-8C97-A725-FAA307F4C9F0}"/>
              </a:ext>
            </a:extLst>
          </p:cNvPr>
          <p:cNvSpPr>
            <a:spLocks noGrp="1"/>
          </p:cNvSpPr>
          <p:nvPr>
            <p:ph type="sldNum" sz="quarter" idx="12"/>
          </p:nvPr>
        </p:nvSpPr>
        <p:spPr/>
        <p:txBody>
          <a:bodyPr/>
          <a:lstStyle/>
          <a:p>
            <a:fld id="{330EA680-D336-4FF7-8B7A-9848BB0A1C32}" type="slidenum">
              <a:rPr lang="en-US" smtClean="0"/>
              <a:pPr/>
              <a:t>11</a:t>
            </a:fld>
            <a:endParaRPr lang="en-US"/>
          </a:p>
        </p:txBody>
      </p:sp>
      <p:pic>
        <p:nvPicPr>
          <p:cNvPr id="16" name="Content Placeholder 15">
            <a:extLst>
              <a:ext uri="{FF2B5EF4-FFF2-40B4-BE49-F238E27FC236}">
                <a16:creationId xmlns:a16="http://schemas.microsoft.com/office/drawing/2014/main" id="{BB335F47-216E-BD78-6974-E4ED37C162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20711" y="1340167"/>
            <a:ext cx="9750578" cy="3716465"/>
          </a:xfrm>
        </p:spPr>
      </p:pic>
    </p:spTree>
    <p:extLst>
      <p:ext uri="{BB962C8B-B14F-4D97-AF65-F5344CB8AC3E}">
        <p14:creationId xmlns:p14="http://schemas.microsoft.com/office/powerpoint/2010/main" val="1803410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43066-72E4-CDA8-1F59-2EABEA9726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FBDE725-4B3B-3119-8214-F02FC3367765}"/>
              </a:ext>
            </a:extLst>
          </p:cNvPr>
          <p:cNvSpPr>
            <a:spLocks noGrp="1"/>
          </p:cNvSpPr>
          <p:nvPr>
            <p:ph type="title"/>
          </p:nvPr>
        </p:nvSpPr>
        <p:spPr/>
        <p:txBody>
          <a:bodyPr/>
          <a:lstStyle/>
          <a:p>
            <a:r>
              <a:rPr lang="en-IN" dirty="0"/>
              <a:t>Architecture - </a:t>
            </a:r>
            <a:r>
              <a:rPr lang="en-IN" dirty="0" err="1"/>
              <a:t>SandhiWindow</a:t>
            </a:r>
            <a:endParaRPr lang="en-IN" dirty="0"/>
          </a:p>
        </p:txBody>
      </p:sp>
      <p:sp>
        <p:nvSpPr>
          <p:cNvPr id="4" name="Slide Number Placeholder 3">
            <a:extLst>
              <a:ext uri="{FF2B5EF4-FFF2-40B4-BE49-F238E27FC236}">
                <a16:creationId xmlns:a16="http://schemas.microsoft.com/office/drawing/2014/main" id="{7D5FD879-9C58-2F02-F04F-4EE21C50E97A}"/>
              </a:ext>
            </a:extLst>
          </p:cNvPr>
          <p:cNvSpPr>
            <a:spLocks noGrp="1"/>
          </p:cNvSpPr>
          <p:nvPr>
            <p:ph type="sldNum" sz="quarter" idx="12"/>
          </p:nvPr>
        </p:nvSpPr>
        <p:spPr/>
        <p:txBody>
          <a:bodyPr/>
          <a:lstStyle/>
          <a:p>
            <a:fld id="{330EA680-D336-4FF7-8B7A-9848BB0A1C32}" type="slidenum">
              <a:rPr lang="en-US" smtClean="0"/>
              <a:pPr/>
              <a:t>12</a:t>
            </a:fld>
            <a:endParaRPr lang="en-US"/>
          </a:p>
        </p:txBody>
      </p:sp>
      <p:pic>
        <p:nvPicPr>
          <p:cNvPr id="7" name="Content Placeholder 6">
            <a:extLst>
              <a:ext uri="{FF2B5EF4-FFF2-40B4-BE49-F238E27FC236}">
                <a16:creationId xmlns:a16="http://schemas.microsoft.com/office/drawing/2014/main" id="{CAE8B858-53BD-F0C7-2578-E8DBF2824B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8065" y="1136650"/>
            <a:ext cx="10836208" cy="4908550"/>
          </a:xfrm>
        </p:spPr>
      </p:pic>
    </p:spTree>
    <p:extLst>
      <p:ext uri="{BB962C8B-B14F-4D97-AF65-F5344CB8AC3E}">
        <p14:creationId xmlns:p14="http://schemas.microsoft.com/office/powerpoint/2010/main" val="4001312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235F5-DEF6-6667-8B7B-153475B4DE6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AD856D4-9167-9A83-07A0-CD74F003090D}"/>
              </a:ext>
            </a:extLst>
          </p:cNvPr>
          <p:cNvSpPr>
            <a:spLocks noGrp="1"/>
          </p:cNvSpPr>
          <p:nvPr>
            <p:ph type="title"/>
          </p:nvPr>
        </p:nvSpPr>
        <p:spPr/>
        <p:txBody>
          <a:bodyPr/>
          <a:lstStyle/>
          <a:p>
            <a:r>
              <a:rPr lang="en-IN"/>
              <a:t>Evaluation Metrics</a:t>
            </a:r>
          </a:p>
        </p:txBody>
      </p:sp>
      <p:sp>
        <p:nvSpPr>
          <p:cNvPr id="4" name="Slide Number Placeholder 3">
            <a:extLst>
              <a:ext uri="{FF2B5EF4-FFF2-40B4-BE49-F238E27FC236}">
                <a16:creationId xmlns:a16="http://schemas.microsoft.com/office/drawing/2014/main" id="{090038FC-70D9-7B02-E678-C56412F83BF3}"/>
              </a:ext>
            </a:extLst>
          </p:cNvPr>
          <p:cNvSpPr>
            <a:spLocks noGrp="1"/>
          </p:cNvSpPr>
          <p:nvPr>
            <p:ph type="sldNum" sz="quarter" idx="12"/>
          </p:nvPr>
        </p:nvSpPr>
        <p:spPr/>
        <p:txBody>
          <a:bodyPr/>
          <a:lstStyle/>
          <a:p>
            <a:fld id="{330EA680-D336-4FF7-8B7A-9848BB0A1C32}" type="slidenum">
              <a:rPr lang="en-US" smtClean="0"/>
              <a:pPr/>
              <a:t>13</a:t>
            </a:fld>
            <a:endParaRPr lang="en-US"/>
          </a:p>
        </p:txBody>
      </p:sp>
      <mc:AlternateContent xmlns:mc="http://schemas.openxmlformats.org/markup-compatibility/2006" xmlns:a14="http://schemas.microsoft.com/office/drawing/2010/main">
        <mc:Choice Requires="a14">
          <p:sp>
            <p:nvSpPr>
              <p:cNvPr id="8" name="Content Placeholder 1">
                <a:extLst>
                  <a:ext uri="{FF2B5EF4-FFF2-40B4-BE49-F238E27FC236}">
                    <a16:creationId xmlns:a16="http://schemas.microsoft.com/office/drawing/2014/main" id="{BFE9133C-FFC2-2F06-819E-E52410E41EA3}"/>
                  </a:ext>
                </a:extLst>
              </p:cNvPr>
              <p:cNvSpPr>
                <a:spLocks noGrp="1"/>
              </p:cNvSpPr>
              <p:nvPr>
                <p:ph idx="1"/>
              </p:nvPr>
            </p:nvSpPr>
            <p:spPr>
              <a:xfrm>
                <a:off x="571499" y="1137256"/>
                <a:ext cx="11209376" cy="4908082"/>
              </a:xfrm>
            </p:spPr>
            <p:txBody>
              <a:bodyPr vert="horz" lIns="91440" tIns="45720" rIns="91440" bIns="45720" rtlCol="0" anchor="t">
                <a:normAutofit/>
              </a:bodyPr>
              <a:lstStyle/>
              <a:p>
                <a:r>
                  <a:rPr lang="en-IN" dirty="0"/>
                  <a:t>Boundary F1-Score</a:t>
                </a:r>
              </a:p>
              <a:p>
                <a:pPr lvl="1"/>
                <a:r>
                  <a:rPr lang="en-IN" sz="1600" dirty="0"/>
                  <a:t>Boundary F1 measures how accurately a model predicts the correct split boundaries in a word or sequence.</a:t>
                </a:r>
              </a:p>
              <a:p>
                <a:pPr lvl="1"/>
                <a:r>
                  <a:rPr lang="en-IN" sz="1600" dirty="0"/>
                  <a:t>identify the correct boundary positions where a sandhi-joined word should be split.</a:t>
                </a:r>
              </a:p>
              <a:p>
                <a:pPr lvl="1"/>
                <a:r>
                  <a:rPr lang="en-IN" sz="1600" dirty="0"/>
                  <a:t>Gold boundaries = correct split positions</a:t>
                </a:r>
              </a:p>
              <a:p>
                <a:pPr lvl="1"/>
                <a:r>
                  <a:rPr lang="en-IN" sz="1600" dirty="0"/>
                  <a:t>Predicted boundaries = boundaries predicted by the model</a:t>
                </a:r>
              </a:p>
              <a:p>
                <a:r>
                  <a:rPr lang="en-IN" sz="2400" b="1" dirty="0"/>
                  <a:t>Metrics:</a:t>
                </a:r>
              </a:p>
              <a:p>
                <a:pPr lvl="1"/>
                <a:r>
                  <a:rPr lang="en-IN" sz="1600" b="1" dirty="0"/>
                  <a:t>Precision</a:t>
                </a:r>
                <a:r>
                  <a:rPr lang="en-IN" sz="1600" dirty="0"/>
                  <a:t> = </a:t>
                </a:r>
                <a14:m>
                  <m:oMath xmlns:m="http://schemas.openxmlformats.org/officeDocument/2006/math">
                    <m:f>
                      <m:fPr>
                        <m:ctrlPr>
                          <a:rPr lang="ar-AE" sz="1800" i="1">
                            <a:latin typeface="Cambria Math" panose="02040503050406030204" pitchFamily="18" charset="0"/>
                          </a:rPr>
                        </m:ctrlPr>
                      </m:fPr>
                      <m:num>
                        <m:r>
                          <m:rPr>
                            <m:nor/>
                          </m:rPr>
                          <a:rPr lang="en-IN" sz="1800" b="0"/>
                          <m:t>Correctly</m:t>
                        </m:r>
                        <m:r>
                          <m:rPr>
                            <m:nor/>
                          </m:rPr>
                          <a:rPr lang="en-IN" sz="1800" b="0" i="1"/>
                          <m:t> </m:t>
                        </m:r>
                        <m:r>
                          <m:rPr>
                            <m:nor/>
                          </m:rPr>
                          <a:rPr lang="en-IN" sz="1800" b="0" i="1"/>
                          <m:t>predicted</m:t>
                        </m:r>
                        <m:r>
                          <m:rPr>
                            <m:nor/>
                          </m:rPr>
                          <a:rPr lang="en-IN" sz="1800" b="0" i="1"/>
                          <m:t> </m:t>
                        </m:r>
                        <m:r>
                          <m:rPr>
                            <m:nor/>
                          </m:rPr>
                          <a:rPr lang="en-IN" sz="1800" b="0" i="1"/>
                          <m:t>boundaries</m:t>
                        </m:r>
                      </m:num>
                      <m:den>
                        <m:r>
                          <m:rPr>
                            <m:nor/>
                          </m:rPr>
                          <a:rPr lang="en-IN" sz="1800" b="0" i="1"/>
                          <m:t>Total</m:t>
                        </m:r>
                        <m:r>
                          <m:rPr>
                            <m:nor/>
                          </m:rPr>
                          <a:rPr lang="en-IN" sz="1800" b="0" i="1"/>
                          <m:t> </m:t>
                        </m:r>
                        <m:r>
                          <m:rPr>
                            <m:nor/>
                          </m:rPr>
                          <a:rPr lang="en-IN" sz="1800" b="0" i="1"/>
                          <m:t>predicted</m:t>
                        </m:r>
                        <m:r>
                          <m:rPr>
                            <m:nor/>
                          </m:rPr>
                          <a:rPr lang="en-IN" sz="1800" b="0" i="1"/>
                          <m:t> </m:t>
                        </m:r>
                        <m:r>
                          <m:rPr>
                            <m:nor/>
                          </m:rPr>
                          <a:rPr lang="en-IN" sz="1800" b="0" i="1"/>
                          <m:t>boundaries</m:t>
                        </m:r>
                      </m:den>
                    </m:f>
                  </m:oMath>
                </a14:m>
                <a:endParaRPr lang="ar-AE" sz="1800" b="0" dirty="0"/>
              </a:p>
              <a:p>
                <a:pPr lvl="1"/>
                <a:endParaRPr lang="en-IN" sz="1600" b="1" dirty="0"/>
              </a:p>
              <a:p>
                <a:pPr lvl="1"/>
                <a:r>
                  <a:rPr lang="en-IN" sz="1600" b="1" dirty="0"/>
                  <a:t>Recall</a:t>
                </a:r>
                <a:r>
                  <a:rPr lang="en-IN" sz="1600" dirty="0"/>
                  <a:t> = </a:t>
                </a:r>
                <a14:m>
                  <m:oMath xmlns:m="http://schemas.openxmlformats.org/officeDocument/2006/math">
                    <m:f>
                      <m:fPr>
                        <m:ctrlPr>
                          <a:rPr lang="ar-AE" sz="1800" i="1">
                            <a:latin typeface="Cambria Math" panose="02040503050406030204" pitchFamily="18" charset="0"/>
                          </a:rPr>
                        </m:ctrlPr>
                      </m:fPr>
                      <m:num>
                        <m:r>
                          <m:rPr>
                            <m:nor/>
                          </m:rPr>
                          <a:rPr lang="en-IN" sz="1800" b="0"/>
                          <m:t>Correctly</m:t>
                        </m:r>
                        <m:r>
                          <m:rPr>
                            <m:nor/>
                          </m:rPr>
                          <a:rPr lang="en-IN" sz="1800" b="0" i="1"/>
                          <m:t> </m:t>
                        </m:r>
                        <m:r>
                          <m:rPr>
                            <m:nor/>
                          </m:rPr>
                          <a:rPr lang="en-IN" sz="1800" b="0" i="1"/>
                          <m:t>predicted</m:t>
                        </m:r>
                        <m:r>
                          <m:rPr>
                            <m:nor/>
                          </m:rPr>
                          <a:rPr lang="en-IN" sz="1800" b="0" i="1"/>
                          <m:t> </m:t>
                        </m:r>
                        <m:r>
                          <m:rPr>
                            <m:nor/>
                          </m:rPr>
                          <a:rPr lang="en-IN" sz="1800" b="0" i="1"/>
                          <m:t>boundaries</m:t>
                        </m:r>
                      </m:num>
                      <m:den>
                        <m:r>
                          <m:rPr>
                            <m:nor/>
                          </m:rPr>
                          <a:rPr lang="en-IN" sz="1800" b="0" i="1"/>
                          <m:t>Total</m:t>
                        </m:r>
                        <m:r>
                          <m:rPr>
                            <m:nor/>
                          </m:rPr>
                          <a:rPr lang="en-IN" sz="1800" b="0" i="1"/>
                          <m:t> </m:t>
                        </m:r>
                        <m:r>
                          <m:rPr>
                            <m:nor/>
                          </m:rPr>
                          <a:rPr lang="en-IN" sz="1800" b="0" i="1"/>
                          <m:t>gold</m:t>
                        </m:r>
                        <m:r>
                          <m:rPr>
                            <m:nor/>
                          </m:rPr>
                          <a:rPr lang="en-IN" sz="1800" b="0" i="1"/>
                          <m:t> </m:t>
                        </m:r>
                        <m:r>
                          <m:rPr>
                            <m:nor/>
                          </m:rPr>
                          <a:rPr lang="en-IN" sz="1800" b="0" i="1"/>
                          <m:t>boundaries</m:t>
                        </m:r>
                      </m:den>
                    </m:f>
                  </m:oMath>
                </a14:m>
                <a:endParaRPr lang="ar-AE" sz="1800" b="0" dirty="0"/>
              </a:p>
              <a:p>
                <a:pPr lvl="1"/>
                <a:endParaRPr lang="en-IN" sz="1600" b="1" dirty="0"/>
              </a:p>
              <a:p>
                <a:pPr lvl="1"/>
                <a:r>
                  <a:rPr lang="en-IN" sz="1600" b="1" dirty="0"/>
                  <a:t>Boundary F1</a:t>
                </a:r>
                <a:r>
                  <a:rPr lang="en-IN" sz="1600" dirty="0"/>
                  <a:t> =</a:t>
                </a:r>
                <a14:m>
                  <m:oMath xmlns:m="http://schemas.openxmlformats.org/officeDocument/2006/math">
                    <m:r>
                      <a:rPr lang="en-IN" sz="1800" b="0" i="0" smtClean="0">
                        <a:latin typeface="Cambria Math" panose="02040503050406030204" pitchFamily="18" charset="0"/>
                      </a:rPr>
                      <m:t> </m:t>
                    </m:r>
                    <m:r>
                      <a:rPr lang="en-IN" sz="1800">
                        <a:latin typeface="Cambria Math" panose="02040503050406030204" pitchFamily="18" charset="0"/>
                      </a:rPr>
                      <m:t>2</m:t>
                    </m:r>
                    <m:r>
                      <a:rPr lang="en-IN" sz="1800">
                        <a:latin typeface="Cambria Math" panose="02040503050406030204" pitchFamily="18" charset="0"/>
                      </a:rPr>
                      <m:t>×</m:t>
                    </m:r>
                    <m:f>
                      <m:fPr>
                        <m:ctrlPr>
                          <a:rPr lang="ar-AE" sz="1800" i="1">
                            <a:latin typeface="Cambria Math" panose="02040503050406030204" pitchFamily="18" charset="0"/>
                          </a:rPr>
                        </m:ctrlPr>
                      </m:fPr>
                      <m:num>
                        <m:r>
                          <m:rPr>
                            <m:nor/>
                          </m:rPr>
                          <a:rPr lang="en-IN" sz="1800" i="1"/>
                          <m:t>Precision</m:t>
                        </m:r>
                        <m:r>
                          <a:rPr lang="en-IN" sz="1800">
                            <a:latin typeface="Cambria Math" panose="02040503050406030204" pitchFamily="18" charset="0"/>
                          </a:rPr>
                          <m:t>×</m:t>
                        </m:r>
                        <m:r>
                          <m:rPr>
                            <m:nor/>
                          </m:rPr>
                          <a:rPr lang="en-IN" sz="1800" i="1"/>
                          <m:t>Recall</m:t>
                        </m:r>
                      </m:num>
                      <m:den>
                        <m:r>
                          <m:rPr>
                            <m:nor/>
                          </m:rPr>
                          <a:rPr lang="en-IN" sz="1800" i="1"/>
                          <m:t>Precision</m:t>
                        </m:r>
                        <m:r>
                          <a:rPr lang="en-IN" sz="1800">
                            <a:latin typeface="Cambria Math" panose="02040503050406030204" pitchFamily="18" charset="0"/>
                          </a:rPr>
                          <m:t>+</m:t>
                        </m:r>
                        <m:r>
                          <m:rPr>
                            <m:nor/>
                          </m:rPr>
                          <a:rPr lang="en-IN" sz="1800" i="1"/>
                          <m:t>Recall</m:t>
                        </m:r>
                      </m:den>
                    </m:f>
                  </m:oMath>
                </a14:m>
                <a:endParaRPr lang="ar-AE" sz="2400" b="0" dirty="0"/>
              </a:p>
              <a:p>
                <a:endParaRPr lang="en-IN" sz="2400" dirty="0">
                  <a:effectLst/>
                </a:endParaRPr>
              </a:p>
            </p:txBody>
          </p:sp>
        </mc:Choice>
        <mc:Fallback xmlns="">
          <p:sp>
            <p:nvSpPr>
              <p:cNvPr id="8" name="Content Placeholder 1">
                <a:extLst>
                  <a:ext uri="{FF2B5EF4-FFF2-40B4-BE49-F238E27FC236}">
                    <a16:creationId xmlns:a16="http://schemas.microsoft.com/office/drawing/2014/main" id="{BFE9133C-FFC2-2F06-819E-E52410E41EA3}"/>
                  </a:ext>
                </a:extLst>
              </p:cNvPr>
              <p:cNvSpPr>
                <a:spLocks noGrp="1" noRot="1" noChangeAspect="1" noMove="1" noResize="1" noEditPoints="1" noAdjustHandles="1" noChangeArrowheads="1" noChangeShapeType="1" noTextEdit="1"/>
              </p:cNvSpPr>
              <p:nvPr>
                <p:ph idx="1"/>
              </p:nvPr>
            </p:nvSpPr>
            <p:spPr>
              <a:xfrm>
                <a:off x="571499" y="1137256"/>
                <a:ext cx="11209376" cy="4908082"/>
              </a:xfrm>
              <a:blipFill>
                <a:blip r:embed="rId2"/>
                <a:stretch>
                  <a:fillRect l="-979" t="-2236"/>
                </a:stretch>
              </a:blipFill>
            </p:spPr>
            <p:txBody>
              <a:bodyPr/>
              <a:lstStyle/>
              <a:p>
                <a:r>
                  <a:rPr lang="en-IN">
                    <a:noFill/>
                  </a:rPr>
                  <a:t> </a:t>
                </a:r>
              </a:p>
            </p:txBody>
          </p:sp>
        </mc:Fallback>
      </mc:AlternateContent>
    </p:spTree>
    <p:extLst>
      <p:ext uri="{BB962C8B-B14F-4D97-AF65-F5344CB8AC3E}">
        <p14:creationId xmlns:p14="http://schemas.microsoft.com/office/powerpoint/2010/main" val="1026519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A603C-A603-275E-2D9B-CA2ABAE7CB95}"/>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038452E-C2B9-89EA-0ED2-FDBDEEF651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7692" y="1934539"/>
            <a:ext cx="3724656" cy="2988922"/>
          </a:xfrm>
        </p:spPr>
      </p:pic>
      <p:sp>
        <p:nvSpPr>
          <p:cNvPr id="3" name="Title 2">
            <a:extLst>
              <a:ext uri="{FF2B5EF4-FFF2-40B4-BE49-F238E27FC236}">
                <a16:creationId xmlns:a16="http://schemas.microsoft.com/office/drawing/2014/main" id="{4DFE9ADF-B3D5-31C0-1621-ACF681C38867}"/>
              </a:ext>
            </a:extLst>
          </p:cNvPr>
          <p:cNvSpPr>
            <a:spLocks noGrp="1"/>
          </p:cNvSpPr>
          <p:nvPr>
            <p:ph type="title"/>
          </p:nvPr>
        </p:nvSpPr>
        <p:spPr/>
        <p:txBody>
          <a:bodyPr/>
          <a:lstStyle/>
          <a:p>
            <a:r>
              <a:rPr lang="en-IN" dirty="0"/>
              <a:t>Result Analysis - Seq2Seq</a:t>
            </a:r>
          </a:p>
        </p:txBody>
      </p:sp>
      <p:sp>
        <p:nvSpPr>
          <p:cNvPr id="4" name="Slide Number Placeholder 3">
            <a:extLst>
              <a:ext uri="{FF2B5EF4-FFF2-40B4-BE49-F238E27FC236}">
                <a16:creationId xmlns:a16="http://schemas.microsoft.com/office/drawing/2014/main" id="{3BC963E6-A1BD-A22A-B095-DA04E7334A47}"/>
              </a:ext>
            </a:extLst>
          </p:cNvPr>
          <p:cNvSpPr>
            <a:spLocks noGrp="1"/>
          </p:cNvSpPr>
          <p:nvPr>
            <p:ph type="sldNum" sz="quarter" idx="12"/>
          </p:nvPr>
        </p:nvSpPr>
        <p:spPr/>
        <p:txBody>
          <a:bodyPr/>
          <a:lstStyle/>
          <a:p>
            <a:fld id="{330EA680-D336-4FF7-8B7A-9848BB0A1C32}" type="slidenum">
              <a:rPr lang="en-US" smtClean="0"/>
              <a:pPr/>
              <a:t>14</a:t>
            </a:fld>
            <a:endParaRPr lang="en-US"/>
          </a:p>
        </p:txBody>
      </p:sp>
      <p:pic>
        <p:nvPicPr>
          <p:cNvPr id="10" name="Picture 9">
            <a:extLst>
              <a:ext uri="{FF2B5EF4-FFF2-40B4-BE49-F238E27FC236}">
                <a16:creationId xmlns:a16="http://schemas.microsoft.com/office/drawing/2014/main" id="{949924CB-CC13-4608-2427-D06D2195ED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5071" y="1953761"/>
            <a:ext cx="3592449" cy="2950477"/>
          </a:xfrm>
          <a:prstGeom prst="rect">
            <a:avLst/>
          </a:prstGeom>
        </p:spPr>
      </p:pic>
      <p:pic>
        <p:nvPicPr>
          <p:cNvPr id="12" name="Picture 11">
            <a:extLst>
              <a:ext uri="{FF2B5EF4-FFF2-40B4-BE49-F238E27FC236}">
                <a16:creationId xmlns:a16="http://schemas.microsoft.com/office/drawing/2014/main" id="{14BB619B-6FE5-B2BE-13E7-6443FE0972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7574" y="1934539"/>
            <a:ext cx="3892271" cy="3123428"/>
          </a:xfrm>
          <a:prstGeom prst="rect">
            <a:avLst/>
          </a:prstGeom>
        </p:spPr>
      </p:pic>
    </p:spTree>
    <p:extLst>
      <p:ext uri="{BB962C8B-B14F-4D97-AF65-F5344CB8AC3E}">
        <p14:creationId xmlns:p14="http://schemas.microsoft.com/office/powerpoint/2010/main" val="1258852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20A08-B015-D7F7-94EC-B1DC486997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7E04F34-D6FE-A44A-5BD6-996826F09B58}"/>
              </a:ext>
            </a:extLst>
          </p:cNvPr>
          <p:cNvSpPr>
            <a:spLocks noGrp="1"/>
          </p:cNvSpPr>
          <p:nvPr>
            <p:ph type="title"/>
          </p:nvPr>
        </p:nvSpPr>
        <p:spPr/>
        <p:txBody>
          <a:bodyPr/>
          <a:lstStyle/>
          <a:p>
            <a:r>
              <a:rPr lang="en-IN" dirty="0"/>
              <a:t>Result Analysis - RNN</a:t>
            </a:r>
          </a:p>
        </p:txBody>
      </p:sp>
      <p:sp>
        <p:nvSpPr>
          <p:cNvPr id="4" name="Slide Number Placeholder 3">
            <a:extLst>
              <a:ext uri="{FF2B5EF4-FFF2-40B4-BE49-F238E27FC236}">
                <a16:creationId xmlns:a16="http://schemas.microsoft.com/office/drawing/2014/main" id="{64EB8F97-8E0D-A9AC-26B7-E5E8F8AEFD45}"/>
              </a:ext>
            </a:extLst>
          </p:cNvPr>
          <p:cNvSpPr>
            <a:spLocks noGrp="1"/>
          </p:cNvSpPr>
          <p:nvPr>
            <p:ph type="sldNum" sz="quarter" idx="12"/>
          </p:nvPr>
        </p:nvSpPr>
        <p:spPr/>
        <p:txBody>
          <a:bodyPr/>
          <a:lstStyle/>
          <a:p>
            <a:fld id="{330EA680-D336-4FF7-8B7A-9848BB0A1C32}" type="slidenum">
              <a:rPr lang="en-US" smtClean="0"/>
              <a:pPr/>
              <a:t>15</a:t>
            </a:fld>
            <a:endParaRPr lang="en-US"/>
          </a:p>
        </p:txBody>
      </p:sp>
      <p:pic>
        <p:nvPicPr>
          <p:cNvPr id="13" name="Content Placeholder 12">
            <a:extLst>
              <a:ext uri="{FF2B5EF4-FFF2-40B4-BE49-F238E27FC236}">
                <a16:creationId xmlns:a16="http://schemas.microsoft.com/office/drawing/2014/main" id="{282B596C-4B2D-FB3A-53A5-8AC9687E244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362481" y="3650583"/>
            <a:ext cx="3782948" cy="2612342"/>
          </a:xfrm>
        </p:spPr>
      </p:pic>
      <p:pic>
        <p:nvPicPr>
          <p:cNvPr id="17" name="Picture 16">
            <a:extLst>
              <a:ext uri="{FF2B5EF4-FFF2-40B4-BE49-F238E27FC236}">
                <a16:creationId xmlns:a16="http://schemas.microsoft.com/office/drawing/2014/main" id="{B86B13DD-82FC-CE9E-C854-7C74440D92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499" y="1000296"/>
            <a:ext cx="4064508" cy="2668941"/>
          </a:xfrm>
          <a:prstGeom prst="rect">
            <a:avLst/>
          </a:prstGeom>
        </p:spPr>
      </p:pic>
      <p:pic>
        <p:nvPicPr>
          <p:cNvPr id="19" name="Picture 18">
            <a:extLst>
              <a:ext uri="{FF2B5EF4-FFF2-40B4-BE49-F238E27FC236}">
                <a16:creationId xmlns:a16="http://schemas.microsoft.com/office/drawing/2014/main" id="{4F0FA438-43EF-46E7-167E-70481B4BFB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0683" y="1038241"/>
            <a:ext cx="4041262" cy="2612342"/>
          </a:xfrm>
          <a:prstGeom prst="rect">
            <a:avLst/>
          </a:prstGeom>
        </p:spPr>
      </p:pic>
      <p:pic>
        <p:nvPicPr>
          <p:cNvPr id="21" name="Picture 20">
            <a:extLst>
              <a:ext uri="{FF2B5EF4-FFF2-40B4-BE49-F238E27FC236}">
                <a16:creationId xmlns:a16="http://schemas.microsoft.com/office/drawing/2014/main" id="{10F167AB-2CC3-1026-23D9-F63BB80AA3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499" y="3676958"/>
            <a:ext cx="4064508" cy="2559591"/>
          </a:xfrm>
          <a:prstGeom prst="rect">
            <a:avLst/>
          </a:prstGeom>
        </p:spPr>
      </p:pic>
    </p:spTree>
    <p:extLst>
      <p:ext uri="{BB962C8B-B14F-4D97-AF65-F5344CB8AC3E}">
        <p14:creationId xmlns:p14="http://schemas.microsoft.com/office/powerpoint/2010/main" val="1305890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6E901-EFDF-AA57-1D4E-218FB375D7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5830C65-43C7-92A6-713C-36DC222A67EA}"/>
              </a:ext>
            </a:extLst>
          </p:cNvPr>
          <p:cNvSpPr>
            <a:spLocks noGrp="1"/>
          </p:cNvSpPr>
          <p:nvPr>
            <p:ph type="title"/>
          </p:nvPr>
        </p:nvSpPr>
        <p:spPr/>
        <p:txBody>
          <a:bodyPr/>
          <a:lstStyle/>
          <a:p>
            <a:r>
              <a:rPr lang="en-IN" dirty="0"/>
              <a:t>Result Analysis - </a:t>
            </a:r>
            <a:r>
              <a:rPr lang="en-IN" dirty="0" err="1"/>
              <a:t>SandhiWindow</a:t>
            </a:r>
            <a:endParaRPr lang="en-IN" dirty="0"/>
          </a:p>
        </p:txBody>
      </p:sp>
      <p:sp>
        <p:nvSpPr>
          <p:cNvPr id="4" name="Slide Number Placeholder 3">
            <a:extLst>
              <a:ext uri="{FF2B5EF4-FFF2-40B4-BE49-F238E27FC236}">
                <a16:creationId xmlns:a16="http://schemas.microsoft.com/office/drawing/2014/main" id="{45C4D242-F1EA-9E65-311C-4D84B64AD823}"/>
              </a:ext>
            </a:extLst>
          </p:cNvPr>
          <p:cNvSpPr>
            <a:spLocks noGrp="1"/>
          </p:cNvSpPr>
          <p:nvPr>
            <p:ph type="sldNum" sz="quarter" idx="12"/>
          </p:nvPr>
        </p:nvSpPr>
        <p:spPr/>
        <p:txBody>
          <a:bodyPr/>
          <a:lstStyle/>
          <a:p>
            <a:fld id="{330EA680-D336-4FF7-8B7A-9848BB0A1C32}" type="slidenum">
              <a:rPr lang="en-US" smtClean="0"/>
              <a:pPr/>
              <a:t>16</a:t>
            </a:fld>
            <a:endParaRPr lang="en-US"/>
          </a:p>
        </p:txBody>
      </p:sp>
      <p:pic>
        <p:nvPicPr>
          <p:cNvPr id="7" name="Content Placeholder 6">
            <a:extLst>
              <a:ext uri="{FF2B5EF4-FFF2-40B4-BE49-F238E27FC236}">
                <a16:creationId xmlns:a16="http://schemas.microsoft.com/office/drawing/2014/main" id="{D2FAAB44-A6E6-0D1C-B753-0633D41631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1307" y="867269"/>
            <a:ext cx="3585591" cy="2832368"/>
          </a:xfrm>
        </p:spPr>
      </p:pic>
      <p:pic>
        <p:nvPicPr>
          <p:cNvPr id="13" name="Picture 12">
            <a:extLst>
              <a:ext uri="{FF2B5EF4-FFF2-40B4-BE49-F238E27FC236}">
                <a16:creationId xmlns:a16="http://schemas.microsoft.com/office/drawing/2014/main" id="{4FAB6922-A6A4-D0CD-62A0-F258EF8A32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1307" y="3699637"/>
            <a:ext cx="3585591" cy="2657075"/>
          </a:xfrm>
          <a:prstGeom prst="rect">
            <a:avLst/>
          </a:prstGeom>
        </p:spPr>
      </p:pic>
      <p:pic>
        <p:nvPicPr>
          <p:cNvPr id="17" name="Picture 16">
            <a:extLst>
              <a:ext uri="{FF2B5EF4-FFF2-40B4-BE49-F238E27FC236}">
                <a16:creationId xmlns:a16="http://schemas.microsoft.com/office/drawing/2014/main" id="{E5D97216-B342-0A0B-E2C5-FD0A18AB6F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4545" y="748285"/>
            <a:ext cx="3311125" cy="2680715"/>
          </a:xfrm>
          <a:prstGeom prst="rect">
            <a:avLst/>
          </a:prstGeom>
        </p:spPr>
      </p:pic>
      <p:sp>
        <p:nvSpPr>
          <p:cNvPr id="19" name="AutoShape 4">
            <a:extLst>
              <a:ext uri="{FF2B5EF4-FFF2-40B4-BE49-F238E27FC236}">
                <a16:creationId xmlns:a16="http://schemas.microsoft.com/office/drawing/2014/main" id="{F2831861-EAD4-17FE-0E2B-4881A4E8EF9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1" name="Picture 20">
            <a:extLst>
              <a:ext uri="{FF2B5EF4-FFF2-40B4-BE49-F238E27FC236}">
                <a16:creationId xmlns:a16="http://schemas.microsoft.com/office/drawing/2014/main" id="{E3047800-C858-ECEA-8F14-DA59285D68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4546" y="3669237"/>
            <a:ext cx="3311125" cy="2657076"/>
          </a:xfrm>
          <a:prstGeom prst="rect">
            <a:avLst/>
          </a:prstGeom>
        </p:spPr>
      </p:pic>
    </p:spTree>
    <p:extLst>
      <p:ext uri="{BB962C8B-B14F-4D97-AF65-F5344CB8AC3E}">
        <p14:creationId xmlns:p14="http://schemas.microsoft.com/office/powerpoint/2010/main" val="3010871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4F041-4B92-DDB7-2DD4-B4E467904EF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862012-7BD0-04C5-D1B3-C273FF15873E}"/>
              </a:ext>
            </a:extLst>
          </p:cNvPr>
          <p:cNvSpPr>
            <a:spLocks noGrp="1"/>
          </p:cNvSpPr>
          <p:nvPr>
            <p:ph idx="1"/>
          </p:nvPr>
        </p:nvSpPr>
        <p:spPr/>
        <p:txBody>
          <a:bodyPr vert="horz" lIns="91440" tIns="45720" rIns="91440" bIns="45720" rtlCol="0" anchor="t">
            <a:normAutofit/>
          </a:bodyPr>
          <a:lstStyle/>
          <a:p>
            <a:r>
              <a:rPr lang="en-IN" sz="2400" b="1"/>
              <a:t>Handling of Complex Sandhi and Compounds</a:t>
            </a:r>
            <a:br>
              <a:rPr lang="en-IN" sz="2400"/>
            </a:br>
            <a:r>
              <a:rPr lang="en-IN" sz="2400"/>
              <a:t>Long compound words (</a:t>
            </a:r>
            <a:r>
              <a:rPr lang="en-IN" sz="2400" i="1" err="1"/>
              <a:t>samāsa</a:t>
            </a:r>
            <a:r>
              <a:rPr lang="en-IN" sz="2400"/>
              <a:t>) and complex sandhi formations remain challenging, leading to segmentation and interpretation errors.</a:t>
            </a:r>
          </a:p>
          <a:p>
            <a:endParaRPr lang="en-IN" sz="2400">
              <a:latin typeface="Georgia"/>
            </a:endParaRPr>
          </a:p>
          <a:p>
            <a:r>
              <a:rPr lang="en-IN" sz="2400" b="1"/>
              <a:t>Lack of Relation Extraction</a:t>
            </a:r>
            <a:br>
              <a:rPr lang="en-IN" sz="2400"/>
            </a:br>
            <a:r>
              <a:rPr lang="en-IN" sz="2400"/>
              <a:t>The current work focuses primarily on segmentation, morphology, and entity recognition, without extracting semantic relations between entities.</a:t>
            </a:r>
          </a:p>
          <a:p>
            <a:endParaRPr lang="en-IN" sz="2400">
              <a:latin typeface="Georgia"/>
            </a:endParaRPr>
          </a:p>
          <a:p>
            <a:r>
              <a:rPr lang="en-IN" sz="2400" b="1"/>
              <a:t>Limited Annotated Dataset</a:t>
            </a:r>
            <a:br>
              <a:rPr lang="en-IN" sz="2400"/>
            </a:br>
            <a:r>
              <a:rPr lang="en-IN" sz="2400"/>
              <a:t>The models were trained on a relatively small, manually annotated dataset, which restricts generalization to larger and more diverse Ayurvedic texts.</a:t>
            </a:r>
            <a:endParaRPr lang="en-IN" sz="2400">
              <a:latin typeface="Georgia"/>
            </a:endParaRPr>
          </a:p>
        </p:txBody>
      </p:sp>
      <p:sp>
        <p:nvSpPr>
          <p:cNvPr id="3" name="Title 2">
            <a:extLst>
              <a:ext uri="{FF2B5EF4-FFF2-40B4-BE49-F238E27FC236}">
                <a16:creationId xmlns:a16="http://schemas.microsoft.com/office/drawing/2014/main" id="{E7B64F97-E7BF-5149-E718-5C481DA54C3A}"/>
              </a:ext>
            </a:extLst>
          </p:cNvPr>
          <p:cNvSpPr>
            <a:spLocks noGrp="1"/>
          </p:cNvSpPr>
          <p:nvPr>
            <p:ph type="title"/>
          </p:nvPr>
        </p:nvSpPr>
        <p:spPr/>
        <p:txBody>
          <a:bodyPr/>
          <a:lstStyle/>
          <a:p>
            <a:r>
              <a:rPr lang="en-IN"/>
              <a:t>Limitations</a:t>
            </a:r>
          </a:p>
        </p:txBody>
      </p:sp>
      <p:sp>
        <p:nvSpPr>
          <p:cNvPr id="4" name="Slide Number Placeholder 3">
            <a:extLst>
              <a:ext uri="{FF2B5EF4-FFF2-40B4-BE49-F238E27FC236}">
                <a16:creationId xmlns:a16="http://schemas.microsoft.com/office/drawing/2014/main" id="{451C5832-8502-502D-3BE6-884EDED53FE1}"/>
              </a:ext>
            </a:extLst>
          </p:cNvPr>
          <p:cNvSpPr>
            <a:spLocks noGrp="1"/>
          </p:cNvSpPr>
          <p:nvPr>
            <p:ph type="sldNum" sz="quarter" idx="12"/>
          </p:nvPr>
        </p:nvSpPr>
        <p:spPr/>
        <p:txBody>
          <a:bodyPr/>
          <a:lstStyle/>
          <a:p>
            <a:fld id="{330EA680-D336-4FF7-8B7A-9848BB0A1C32}" type="slidenum">
              <a:rPr lang="en-US" smtClean="0"/>
              <a:pPr/>
              <a:t>17</a:t>
            </a:fld>
            <a:endParaRPr lang="en-US"/>
          </a:p>
        </p:txBody>
      </p:sp>
    </p:spTree>
    <p:extLst>
      <p:ext uri="{BB962C8B-B14F-4D97-AF65-F5344CB8AC3E}">
        <p14:creationId xmlns:p14="http://schemas.microsoft.com/office/powerpoint/2010/main" val="2732947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C41F7-D178-C595-9426-2BB61F1EE7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A11A25-BB76-8F5B-E1F5-E21F8D13E2D7}"/>
              </a:ext>
            </a:extLst>
          </p:cNvPr>
          <p:cNvSpPr>
            <a:spLocks noGrp="1"/>
          </p:cNvSpPr>
          <p:nvPr>
            <p:ph idx="1"/>
          </p:nvPr>
        </p:nvSpPr>
        <p:spPr/>
        <p:txBody>
          <a:bodyPr vert="horz" lIns="91440" tIns="45720" rIns="91440" bIns="45720" rtlCol="0" anchor="t">
            <a:normAutofit/>
          </a:bodyPr>
          <a:lstStyle/>
          <a:p>
            <a:r>
              <a:rPr lang="en-IN" sz="2400" b="1"/>
              <a:t>Fine-Tuning Domain-Specific Language Models</a:t>
            </a:r>
            <a:br>
              <a:rPr lang="en-IN" sz="2400"/>
            </a:br>
            <a:r>
              <a:rPr lang="en-IN" sz="2400"/>
              <a:t>Further fine-tune advanced Sanskrit pre-trained language models specifically on Ayurvedic corpora to improve performance on medical entities and relations.</a:t>
            </a:r>
          </a:p>
          <a:p>
            <a:endParaRPr lang="en-IN" sz="2400">
              <a:latin typeface="Georgia"/>
            </a:endParaRPr>
          </a:p>
          <a:p>
            <a:r>
              <a:rPr lang="en-IN" sz="2400" b="1"/>
              <a:t>Hybrid NLP Approaches</a:t>
            </a:r>
            <a:br>
              <a:rPr lang="en-IN" sz="2400"/>
            </a:br>
            <a:r>
              <a:rPr lang="en-IN" sz="2400"/>
              <a:t>Explore hybrid models that combine rule-based linguistic knowledge with transformer-based deep learning to better handle sandhi, long compounds, and free word order.</a:t>
            </a:r>
          </a:p>
          <a:p>
            <a:endParaRPr lang="en-IN" sz="2400">
              <a:latin typeface="Georgia"/>
            </a:endParaRPr>
          </a:p>
          <a:p>
            <a:r>
              <a:rPr lang="en-IN" sz="2400" b="1"/>
              <a:t>Clinical and Educational Applications</a:t>
            </a:r>
            <a:br>
              <a:rPr lang="en-IN" sz="2400"/>
            </a:br>
            <a:r>
              <a:rPr lang="en-IN" sz="2400"/>
              <a:t>Apply the extracted structured knowledge to clinical decision support systems, digital textbooks, and intelligent Ayurvedic search engines.</a:t>
            </a:r>
            <a:endParaRPr lang="en-IN" sz="2400">
              <a:latin typeface="Georgia"/>
            </a:endParaRPr>
          </a:p>
        </p:txBody>
      </p:sp>
      <p:sp>
        <p:nvSpPr>
          <p:cNvPr id="3" name="Title 2">
            <a:extLst>
              <a:ext uri="{FF2B5EF4-FFF2-40B4-BE49-F238E27FC236}">
                <a16:creationId xmlns:a16="http://schemas.microsoft.com/office/drawing/2014/main" id="{C20940C5-6A78-B9A3-0677-59DA84BABA27}"/>
              </a:ext>
            </a:extLst>
          </p:cNvPr>
          <p:cNvSpPr>
            <a:spLocks noGrp="1"/>
          </p:cNvSpPr>
          <p:nvPr>
            <p:ph type="title"/>
          </p:nvPr>
        </p:nvSpPr>
        <p:spPr/>
        <p:txBody>
          <a:bodyPr/>
          <a:lstStyle/>
          <a:p>
            <a:r>
              <a:rPr lang="en-IN"/>
              <a:t>Phase II Plan (Proposed)</a:t>
            </a:r>
          </a:p>
        </p:txBody>
      </p:sp>
      <p:sp>
        <p:nvSpPr>
          <p:cNvPr id="4" name="Slide Number Placeholder 3">
            <a:extLst>
              <a:ext uri="{FF2B5EF4-FFF2-40B4-BE49-F238E27FC236}">
                <a16:creationId xmlns:a16="http://schemas.microsoft.com/office/drawing/2014/main" id="{3487EFD5-5F22-9D24-6AD7-9744762791F5}"/>
              </a:ext>
            </a:extLst>
          </p:cNvPr>
          <p:cNvSpPr>
            <a:spLocks noGrp="1"/>
          </p:cNvSpPr>
          <p:nvPr>
            <p:ph type="sldNum" sz="quarter" idx="12"/>
          </p:nvPr>
        </p:nvSpPr>
        <p:spPr/>
        <p:txBody>
          <a:bodyPr/>
          <a:lstStyle/>
          <a:p>
            <a:fld id="{330EA680-D336-4FF7-8B7A-9848BB0A1C32}" type="slidenum">
              <a:rPr lang="en-US" smtClean="0"/>
              <a:pPr/>
              <a:t>18</a:t>
            </a:fld>
            <a:endParaRPr lang="en-US"/>
          </a:p>
        </p:txBody>
      </p:sp>
    </p:spTree>
    <p:extLst>
      <p:ext uri="{BB962C8B-B14F-4D97-AF65-F5344CB8AC3E}">
        <p14:creationId xmlns:p14="http://schemas.microsoft.com/office/powerpoint/2010/main" val="2992301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EF5B0-77D8-21B3-6C6F-5CF400CBEC6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B42242-5F92-C729-A4C9-AC8965FB2ADC}"/>
              </a:ext>
            </a:extLst>
          </p:cNvPr>
          <p:cNvSpPr>
            <a:spLocks noGrp="1"/>
          </p:cNvSpPr>
          <p:nvPr>
            <p:ph idx="1"/>
          </p:nvPr>
        </p:nvSpPr>
        <p:spPr/>
        <p:txBody>
          <a:bodyPr vert="horz" lIns="91440" tIns="45720" rIns="91440" bIns="45720" rtlCol="0" anchor="t">
            <a:normAutofit/>
          </a:bodyPr>
          <a:lstStyle/>
          <a:p>
            <a:pPr algn="just"/>
            <a:r>
              <a:rPr lang="en-IN" sz="2900" dirty="0" err="1"/>
              <a:t>Aralikatte</a:t>
            </a:r>
            <a:r>
              <a:rPr lang="en-IN" sz="2900" dirty="0"/>
              <a:t>, R., </a:t>
            </a:r>
            <a:r>
              <a:rPr lang="en-IN" sz="2900" dirty="0" err="1"/>
              <a:t>Gantayat</a:t>
            </a:r>
            <a:r>
              <a:rPr lang="en-IN" sz="2900" dirty="0"/>
              <a:t>, N., Panwar, N., Sankaran, A., &amp; Mani, S. (2019). </a:t>
            </a:r>
            <a:r>
              <a:rPr lang="en-IN" sz="2900" i="1" dirty="0"/>
              <a:t>Sanskrit sandhi splitting using seq2(</a:t>
            </a:r>
            <a:r>
              <a:rPr lang="en-IN" sz="2900" i="1" dirty="0" err="1"/>
              <a:t>seq</a:t>
            </a:r>
            <a:r>
              <a:rPr lang="en-IN" sz="2900" i="1" dirty="0"/>
              <a:t>)²</a:t>
            </a:r>
            <a:r>
              <a:rPr lang="en-IN" sz="2900" dirty="0"/>
              <a:t>.</a:t>
            </a:r>
          </a:p>
          <a:p>
            <a:pPr lvl="0" algn="just"/>
            <a:r>
              <a:rPr lang="en-IN" dirty="0"/>
              <a:t>Hellwig, O. (2015). </a:t>
            </a:r>
            <a:r>
              <a:rPr lang="en-IN" i="1" dirty="0"/>
              <a:t>Using recurrent neural networks for joint compound splitting and Sandhi resolution in Sanskrit</a:t>
            </a:r>
            <a:r>
              <a:rPr lang="en-IN" dirty="0"/>
              <a:t>.</a:t>
            </a:r>
          </a:p>
          <a:p>
            <a:pPr lvl="0" algn="just"/>
            <a:r>
              <a:rPr lang="en-IN" dirty="0"/>
              <a:t>Dave, S., Singh, A. K., P., P. A., &amp; Lall, B. (2020). </a:t>
            </a:r>
            <a:r>
              <a:rPr lang="en-IN" i="1" dirty="0"/>
              <a:t>Neural compound-word (Sandhi) generation and splitting in Sanskrit language</a:t>
            </a:r>
            <a:endParaRPr lang="en-IN" dirty="0"/>
          </a:p>
        </p:txBody>
      </p:sp>
      <p:sp>
        <p:nvSpPr>
          <p:cNvPr id="3" name="Title 2">
            <a:extLst>
              <a:ext uri="{FF2B5EF4-FFF2-40B4-BE49-F238E27FC236}">
                <a16:creationId xmlns:a16="http://schemas.microsoft.com/office/drawing/2014/main" id="{506D197B-8B0F-8529-F35E-4A169E394A0A}"/>
              </a:ext>
            </a:extLst>
          </p:cNvPr>
          <p:cNvSpPr>
            <a:spLocks noGrp="1"/>
          </p:cNvSpPr>
          <p:nvPr>
            <p:ph type="title"/>
          </p:nvPr>
        </p:nvSpPr>
        <p:spPr/>
        <p:txBody>
          <a:bodyPr/>
          <a:lstStyle/>
          <a:p>
            <a:r>
              <a:rPr lang="en-IN">
                <a:latin typeface="Georgia"/>
              </a:rPr>
              <a:t>Reference</a:t>
            </a:r>
            <a:endParaRPr lang="en-IN"/>
          </a:p>
        </p:txBody>
      </p:sp>
      <p:sp>
        <p:nvSpPr>
          <p:cNvPr id="4" name="Slide Number Placeholder 3">
            <a:extLst>
              <a:ext uri="{FF2B5EF4-FFF2-40B4-BE49-F238E27FC236}">
                <a16:creationId xmlns:a16="http://schemas.microsoft.com/office/drawing/2014/main" id="{6E98D137-A11A-AC12-6946-90AC8FBDD06F}"/>
              </a:ext>
            </a:extLst>
          </p:cNvPr>
          <p:cNvSpPr>
            <a:spLocks noGrp="1"/>
          </p:cNvSpPr>
          <p:nvPr>
            <p:ph type="sldNum" sz="quarter" idx="12"/>
          </p:nvPr>
        </p:nvSpPr>
        <p:spPr/>
        <p:txBody>
          <a:bodyPr/>
          <a:lstStyle/>
          <a:p>
            <a:fld id="{330EA680-D336-4FF7-8B7A-9848BB0A1C32}" type="slidenum">
              <a:rPr lang="en-US" smtClean="0"/>
              <a:pPr/>
              <a:t>19</a:t>
            </a:fld>
            <a:endParaRPr lang="en-US"/>
          </a:p>
        </p:txBody>
      </p:sp>
    </p:spTree>
    <p:extLst>
      <p:ext uri="{BB962C8B-B14F-4D97-AF65-F5344CB8AC3E}">
        <p14:creationId xmlns:p14="http://schemas.microsoft.com/office/powerpoint/2010/main" val="3628893542"/>
      </p:ext>
    </p:extLst>
  </p:cSld>
  <p:clrMapOvr>
    <a:masterClrMapping/>
  </p:clrMapOvr>
</p:sld>
</file>

<file path=ppt/theme/theme1.xml><?xml version="1.0" encoding="utf-8"?>
<a:theme xmlns:a="http://schemas.openxmlformats.org/drawingml/2006/main" name="AlignmentVTI">
  <a:themeElements>
    <a:clrScheme name="AnalogousFromLightSeed_2SEEDS">
      <a:dk1>
        <a:srgbClr val="000000"/>
      </a:dk1>
      <a:lt1>
        <a:srgbClr val="FFFFFF"/>
      </a:lt1>
      <a:dk2>
        <a:srgbClr val="243741"/>
      </a:dk2>
      <a:lt2>
        <a:srgbClr val="E2E5E8"/>
      </a:lt2>
      <a:accent1>
        <a:srgbClr val="BB9D7E"/>
      </a:accent1>
      <a:accent2>
        <a:srgbClr val="C59791"/>
      </a:accent2>
      <a:accent3>
        <a:srgbClr val="A5A27B"/>
      </a:accent3>
      <a:accent4>
        <a:srgbClr val="74ADA7"/>
      </a:accent4>
      <a:accent5>
        <a:srgbClr val="7EA7BB"/>
      </a:accent5>
      <a:accent6>
        <a:srgbClr val="7E8DBB"/>
      </a:accent6>
      <a:hlink>
        <a:srgbClr val="6184A9"/>
      </a:hlink>
      <a:folHlink>
        <a:srgbClr val="7F7F7F"/>
      </a:folHlink>
    </a:clrScheme>
    <a:fontScheme name="Custom 1">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ignmentVTI" id="{606D7720-FAA0-4ADC-B967-3239DA8ECA1A}" vid="{10074623-6FCC-4A3C-AAA5-58644BD8FF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160</TotalTime>
  <Words>942</Words>
  <Application>Microsoft Office PowerPoint</Application>
  <PresentationFormat>Widescreen</PresentationFormat>
  <Paragraphs>152</Paragraphs>
  <Slides>19</Slides>
  <Notes>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19</vt:i4>
      </vt:variant>
    </vt:vector>
  </HeadingPairs>
  <TitlesOfParts>
    <vt:vector size="31" baseType="lpstr">
      <vt:lpstr>Batang</vt:lpstr>
      <vt:lpstr>Aptos</vt:lpstr>
      <vt:lpstr>Aptos Display</vt:lpstr>
      <vt:lpstr>Arial</vt:lpstr>
      <vt:lpstr>Avenir Next LT Pro Light</vt:lpstr>
      <vt:lpstr>Calibri</vt:lpstr>
      <vt:lpstr>Cambria Math</vt:lpstr>
      <vt:lpstr>Georgia</vt:lpstr>
      <vt:lpstr>Segoe UI</vt:lpstr>
      <vt:lpstr>Times New Roman</vt:lpstr>
      <vt:lpstr>AlignmentVTI</vt:lpstr>
      <vt:lpstr>office theme</vt:lpstr>
      <vt:lpstr>PowerPoint Presentation</vt:lpstr>
      <vt:lpstr>Outline</vt:lpstr>
      <vt:lpstr>Introduction</vt:lpstr>
      <vt:lpstr>Problem Definition</vt:lpstr>
      <vt:lpstr>Objectives</vt:lpstr>
      <vt:lpstr>Literature Review Summary</vt:lpstr>
      <vt:lpstr>Research Gap</vt:lpstr>
      <vt:lpstr>Dataset Description</vt:lpstr>
      <vt:lpstr>Methodology / Proposed Method</vt:lpstr>
      <vt:lpstr>Architecture - Seq2Seq</vt:lpstr>
      <vt:lpstr>Architecture - RNN</vt:lpstr>
      <vt:lpstr>Architecture - SandhiWindow</vt:lpstr>
      <vt:lpstr>Evaluation Metrics</vt:lpstr>
      <vt:lpstr>Result Analysis - Seq2Seq</vt:lpstr>
      <vt:lpstr>Result Analysis - RNN</vt:lpstr>
      <vt:lpstr>Result Analysis - SandhiWindow</vt:lpstr>
      <vt:lpstr>Limitations</vt:lpstr>
      <vt:lpstr>Phase II Plan (Proposed)</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 Narayan C</dc:creator>
  <cp:lastModifiedBy>Jayashree Nair</cp:lastModifiedBy>
  <cp:revision>3</cp:revision>
  <dcterms:created xsi:type="dcterms:W3CDTF">2025-02-06T04:27:38Z</dcterms:created>
  <dcterms:modified xsi:type="dcterms:W3CDTF">2025-12-23T09:05:54Z</dcterms:modified>
</cp:coreProperties>
</file>